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60" r:id="rId6"/>
    <p:sldId id="261" r:id="rId7"/>
    <p:sldId id="268" r:id="rId8"/>
    <p:sldId id="267" r:id="rId9"/>
    <p:sldId id="266" r:id="rId10"/>
    <p:sldId id="262" r:id="rId11"/>
    <p:sldId id="269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3"/>
    <p:restoredTop sz="71973"/>
  </p:normalViewPr>
  <p:slideViewPr>
    <p:cSldViewPr snapToGrid="0" snapToObjects="1">
      <p:cViewPr varScale="1">
        <p:scale>
          <a:sx n="90" d="100"/>
          <a:sy n="90" d="100"/>
        </p:scale>
        <p:origin x="1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EFC44B-E43F-3C4E-A2B3-D3C680B33EA2}" type="doc">
      <dgm:prSet loTypeId="urn:microsoft.com/office/officeart/2008/layout/VerticalCurvedLis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AFD56D-E74D-9848-AF0E-AE0F2458FB7E}">
      <dgm:prSet phldrT="[Text]"/>
      <dgm:spPr/>
      <dgm:t>
        <a:bodyPr/>
        <a:lstStyle/>
        <a:p>
          <a:r>
            <a:rPr lang="en-US" dirty="0"/>
            <a:t>111+234=? ? </a:t>
          </a:r>
          <a:r>
            <a:rPr lang="en-US" dirty="0">
              <a:solidFill>
                <a:srgbClr val="C00000"/>
              </a:solidFill>
            </a:rPr>
            <a:t>5</a:t>
          </a:r>
        </a:p>
      </dgm:t>
    </dgm:pt>
    <dgm:pt modelId="{FA3067AA-4BB4-B14F-B99A-8D08C058B84C}" type="parTrans" cxnId="{46F0AEE1-1D91-7B40-966C-235AED29192A}">
      <dgm:prSet/>
      <dgm:spPr/>
      <dgm:t>
        <a:bodyPr/>
        <a:lstStyle/>
        <a:p>
          <a:endParaRPr lang="en-US"/>
        </a:p>
      </dgm:t>
    </dgm:pt>
    <dgm:pt modelId="{C222D7DE-4B45-2142-A6C4-F644CF4BD368}" type="sibTrans" cxnId="{46F0AEE1-1D91-7B40-966C-235AED29192A}">
      <dgm:prSet/>
      <dgm:spPr/>
      <dgm:t>
        <a:bodyPr/>
        <a:lstStyle/>
        <a:p>
          <a:endParaRPr lang="en-US"/>
        </a:p>
      </dgm:t>
    </dgm:pt>
    <dgm:pt modelId="{6A9A55B3-04FE-E147-8B4D-305C1F17E247}">
      <dgm:prSet phldrT="[Text]"/>
      <dgm:spPr/>
      <dgm:t>
        <a:bodyPr/>
        <a:lstStyle/>
        <a:p>
          <a:r>
            <a:rPr lang="en-US" dirty="0"/>
            <a:t>111+234=? </a:t>
          </a:r>
          <a:r>
            <a:rPr lang="en-US" dirty="0">
              <a:solidFill>
                <a:srgbClr val="C00000"/>
              </a:solidFill>
            </a:rPr>
            <a:t>4 </a:t>
          </a:r>
          <a:r>
            <a:rPr lang="en-US" dirty="0"/>
            <a:t>5</a:t>
          </a:r>
        </a:p>
      </dgm:t>
    </dgm:pt>
    <dgm:pt modelId="{9B4BD46E-BEC5-1E40-8B41-194CD6300CE1}" type="parTrans" cxnId="{D821A7B9-F908-C94E-B07E-908B12D60EC4}">
      <dgm:prSet/>
      <dgm:spPr/>
      <dgm:t>
        <a:bodyPr/>
        <a:lstStyle/>
        <a:p>
          <a:endParaRPr lang="en-US"/>
        </a:p>
      </dgm:t>
    </dgm:pt>
    <dgm:pt modelId="{5A16F194-B636-244F-8FDA-835B5CF71112}" type="sibTrans" cxnId="{D821A7B9-F908-C94E-B07E-908B12D60EC4}">
      <dgm:prSet/>
      <dgm:spPr/>
      <dgm:t>
        <a:bodyPr/>
        <a:lstStyle/>
        <a:p>
          <a:endParaRPr lang="en-US"/>
        </a:p>
      </dgm:t>
    </dgm:pt>
    <dgm:pt modelId="{8D003C75-7485-ED49-81EA-3246AA0702A0}">
      <dgm:prSet phldrT="[Text]"/>
      <dgm:spPr/>
      <dgm:t>
        <a:bodyPr/>
        <a:lstStyle/>
        <a:p>
          <a:r>
            <a:rPr lang="en-US" dirty="0"/>
            <a:t>111+234=</a:t>
          </a:r>
          <a:r>
            <a:rPr lang="en-US" dirty="0">
              <a:solidFill>
                <a:srgbClr val="C00000"/>
              </a:solidFill>
            </a:rPr>
            <a:t>3 </a:t>
          </a:r>
          <a:r>
            <a:rPr lang="en-US" dirty="0"/>
            <a:t>4 5</a:t>
          </a:r>
        </a:p>
      </dgm:t>
    </dgm:pt>
    <dgm:pt modelId="{35739DA1-41B9-594C-A3D9-4A091370E2A7}" type="sibTrans" cxnId="{FD804959-201C-B140-9576-BEC0539DA7F2}">
      <dgm:prSet/>
      <dgm:spPr/>
      <dgm:t>
        <a:bodyPr/>
        <a:lstStyle/>
        <a:p>
          <a:endParaRPr lang="en-US"/>
        </a:p>
      </dgm:t>
    </dgm:pt>
    <dgm:pt modelId="{C95099BC-453F-3C49-8624-1B789BBFEDAE}" type="parTrans" cxnId="{FD804959-201C-B140-9576-BEC0539DA7F2}">
      <dgm:prSet/>
      <dgm:spPr/>
      <dgm:t>
        <a:bodyPr/>
        <a:lstStyle/>
        <a:p>
          <a:endParaRPr lang="en-US"/>
        </a:p>
      </dgm:t>
    </dgm:pt>
    <dgm:pt modelId="{56FA6398-C497-114C-937A-0D14C59605F0}" type="pres">
      <dgm:prSet presAssocID="{1DEFC44B-E43F-3C4E-A2B3-D3C680B33EA2}" presName="Name0" presStyleCnt="0">
        <dgm:presLayoutVars>
          <dgm:chMax val="7"/>
          <dgm:chPref val="7"/>
          <dgm:dir/>
        </dgm:presLayoutVars>
      </dgm:prSet>
      <dgm:spPr/>
    </dgm:pt>
    <dgm:pt modelId="{40FD101B-19A2-D147-AD6A-621D1E6295F8}" type="pres">
      <dgm:prSet presAssocID="{1DEFC44B-E43F-3C4E-A2B3-D3C680B33EA2}" presName="Name1" presStyleCnt="0"/>
      <dgm:spPr/>
    </dgm:pt>
    <dgm:pt modelId="{F74BFB27-CC0B-F54C-A1F7-9441D4B50550}" type="pres">
      <dgm:prSet presAssocID="{1DEFC44B-E43F-3C4E-A2B3-D3C680B33EA2}" presName="cycle" presStyleCnt="0"/>
      <dgm:spPr/>
    </dgm:pt>
    <dgm:pt modelId="{6C6750D8-94E5-7B46-B034-017B58A59340}" type="pres">
      <dgm:prSet presAssocID="{1DEFC44B-E43F-3C4E-A2B3-D3C680B33EA2}" presName="srcNode" presStyleLbl="node1" presStyleIdx="0" presStyleCnt="3"/>
      <dgm:spPr/>
    </dgm:pt>
    <dgm:pt modelId="{C616B459-A4EC-C142-931C-E84B0156093C}" type="pres">
      <dgm:prSet presAssocID="{1DEFC44B-E43F-3C4E-A2B3-D3C680B33EA2}" presName="conn" presStyleLbl="parChTrans1D2" presStyleIdx="0" presStyleCnt="1"/>
      <dgm:spPr/>
    </dgm:pt>
    <dgm:pt modelId="{A8EC5385-E35C-F648-A065-8EFF70F72F24}" type="pres">
      <dgm:prSet presAssocID="{1DEFC44B-E43F-3C4E-A2B3-D3C680B33EA2}" presName="extraNode" presStyleLbl="node1" presStyleIdx="0" presStyleCnt="3"/>
      <dgm:spPr/>
    </dgm:pt>
    <dgm:pt modelId="{88B05DA2-68EE-DC46-8C7D-FAC2A404930E}" type="pres">
      <dgm:prSet presAssocID="{1DEFC44B-E43F-3C4E-A2B3-D3C680B33EA2}" presName="dstNode" presStyleLbl="node1" presStyleIdx="0" presStyleCnt="3"/>
      <dgm:spPr/>
    </dgm:pt>
    <dgm:pt modelId="{A99BD7FE-6BF4-6742-8081-AE7129BDD17A}" type="pres">
      <dgm:prSet presAssocID="{0DAFD56D-E74D-9848-AF0E-AE0F2458FB7E}" presName="text_1" presStyleLbl="node1" presStyleIdx="0" presStyleCnt="3">
        <dgm:presLayoutVars>
          <dgm:bulletEnabled val="1"/>
        </dgm:presLayoutVars>
      </dgm:prSet>
      <dgm:spPr/>
    </dgm:pt>
    <dgm:pt modelId="{0A7EF8A3-079D-9D48-A8A7-50525DD4AF76}" type="pres">
      <dgm:prSet presAssocID="{0DAFD56D-E74D-9848-AF0E-AE0F2458FB7E}" presName="accent_1" presStyleCnt="0"/>
      <dgm:spPr/>
    </dgm:pt>
    <dgm:pt modelId="{2B276353-273D-D84B-B50F-DBED3947DF8C}" type="pres">
      <dgm:prSet presAssocID="{0DAFD56D-E74D-9848-AF0E-AE0F2458FB7E}" presName="accentRepeatNode" presStyleLbl="solidFgAcc1" presStyleIdx="0" presStyleCnt="3"/>
      <dgm:spPr>
        <a:solidFill>
          <a:schemeClr val="tx2">
            <a:lumMod val="50000"/>
            <a:lumOff val="50000"/>
          </a:schemeClr>
        </a:solidFill>
      </dgm:spPr>
    </dgm:pt>
    <dgm:pt modelId="{07127821-F587-C94B-9FAE-B0179EAD0687}" type="pres">
      <dgm:prSet presAssocID="{6A9A55B3-04FE-E147-8B4D-305C1F17E247}" presName="text_2" presStyleLbl="node1" presStyleIdx="1" presStyleCnt="3">
        <dgm:presLayoutVars>
          <dgm:bulletEnabled val="1"/>
        </dgm:presLayoutVars>
      </dgm:prSet>
      <dgm:spPr/>
    </dgm:pt>
    <dgm:pt modelId="{7EF88A09-73C3-0A45-9435-CB281DE7D98A}" type="pres">
      <dgm:prSet presAssocID="{6A9A55B3-04FE-E147-8B4D-305C1F17E247}" presName="accent_2" presStyleCnt="0"/>
      <dgm:spPr/>
    </dgm:pt>
    <dgm:pt modelId="{90DEEB99-F57C-A04F-8C82-388D1C04E9CE}" type="pres">
      <dgm:prSet presAssocID="{6A9A55B3-04FE-E147-8B4D-305C1F17E247}" presName="accentRepeatNode" presStyleLbl="solidFgAcc1" presStyleIdx="1" presStyleCnt="3"/>
      <dgm:spPr>
        <a:solidFill>
          <a:schemeClr val="accent2">
            <a:lumMod val="75000"/>
          </a:schemeClr>
        </a:solidFill>
      </dgm:spPr>
    </dgm:pt>
    <dgm:pt modelId="{C5FD8DE9-E4FF-1B46-847A-1CDF241A5F7B}" type="pres">
      <dgm:prSet presAssocID="{8D003C75-7485-ED49-81EA-3246AA0702A0}" presName="text_3" presStyleLbl="node1" presStyleIdx="2" presStyleCnt="3">
        <dgm:presLayoutVars>
          <dgm:bulletEnabled val="1"/>
        </dgm:presLayoutVars>
      </dgm:prSet>
      <dgm:spPr/>
    </dgm:pt>
    <dgm:pt modelId="{0C81473D-B80C-1342-9274-E2E9AB7075CB}" type="pres">
      <dgm:prSet presAssocID="{8D003C75-7485-ED49-81EA-3246AA0702A0}" presName="accent_3" presStyleCnt="0"/>
      <dgm:spPr/>
    </dgm:pt>
    <dgm:pt modelId="{2138DE14-3BE2-3641-BC43-4F848E7329FF}" type="pres">
      <dgm:prSet presAssocID="{8D003C75-7485-ED49-81EA-3246AA0702A0}" presName="accentRepeatNode" presStyleLbl="solidFgAcc1" presStyleIdx="2" presStyleCnt="3"/>
      <dgm:spPr>
        <a:solidFill>
          <a:schemeClr val="accent6">
            <a:lumMod val="60000"/>
            <a:lumOff val="40000"/>
          </a:schemeClr>
        </a:solidFill>
      </dgm:spPr>
    </dgm:pt>
  </dgm:ptLst>
  <dgm:cxnLst>
    <dgm:cxn modelId="{F2CB2732-7D9B-4242-8EE3-32E0E63B6F61}" type="presOf" srcId="{C222D7DE-4B45-2142-A6C4-F644CF4BD368}" destId="{C616B459-A4EC-C142-931C-E84B0156093C}" srcOrd="0" destOrd="0" presId="urn:microsoft.com/office/officeart/2008/layout/VerticalCurvedList"/>
    <dgm:cxn modelId="{BDB65A3A-CEEC-E149-9092-C60D00EF1D93}" type="presOf" srcId="{1DEFC44B-E43F-3C4E-A2B3-D3C680B33EA2}" destId="{56FA6398-C497-114C-937A-0D14C59605F0}" srcOrd="0" destOrd="0" presId="urn:microsoft.com/office/officeart/2008/layout/VerticalCurvedList"/>
    <dgm:cxn modelId="{4707D946-AAD5-3741-B842-2FD071C8FDCE}" type="presOf" srcId="{6A9A55B3-04FE-E147-8B4D-305C1F17E247}" destId="{07127821-F587-C94B-9FAE-B0179EAD0687}" srcOrd="0" destOrd="0" presId="urn:microsoft.com/office/officeart/2008/layout/VerticalCurvedList"/>
    <dgm:cxn modelId="{FD804959-201C-B140-9576-BEC0539DA7F2}" srcId="{1DEFC44B-E43F-3C4E-A2B3-D3C680B33EA2}" destId="{8D003C75-7485-ED49-81EA-3246AA0702A0}" srcOrd="2" destOrd="0" parTransId="{C95099BC-453F-3C49-8624-1B789BBFEDAE}" sibTransId="{35739DA1-41B9-594C-A3D9-4A091370E2A7}"/>
    <dgm:cxn modelId="{D821A7B9-F908-C94E-B07E-908B12D60EC4}" srcId="{1DEFC44B-E43F-3C4E-A2B3-D3C680B33EA2}" destId="{6A9A55B3-04FE-E147-8B4D-305C1F17E247}" srcOrd="1" destOrd="0" parTransId="{9B4BD46E-BEC5-1E40-8B41-194CD6300CE1}" sibTransId="{5A16F194-B636-244F-8FDA-835B5CF71112}"/>
    <dgm:cxn modelId="{46F0AEE1-1D91-7B40-966C-235AED29192A}" srcId="{1DEFC44B-E43F-3C4E-A2B3-D3C680B33EA2}" destId="{0DAFD56D-E74D-9848-AF0E-AE0F2458FB7E}" srcOrd="0" destOrd="0" parTransId="{FA3067AA-4BB4-B14F-B99A-8D08C058B84C}" sibTransId="{C222D7DE-4B45-2142-A6C4-F644CF4BD368}"/>
    <dgm:cxn modelId="{7BF829E4-55B7-8145-97B5-A5D2F32925F3}" type="presOf" srcId="{8D003C75-7485-ED49-81EA-3246AA0702A0}" destId="{C5FD8DE9-E4FF-1B46-847A-1CDF241A5F7B}" srcOrd="0" destOrd="0" presId="urn:microsoft.com/office/officeart/2008/layout/VerticalCurvedList"/>
    <dgm:cxn modelId="{96A40FE9-2760-BF4C-BB55-E3DC7C2322DB}" type="presOf" srcId="{0DAFD56D-E74D-9848-AF0E-AE0F2458FB7E}" destId="{A99BD7FE-6BF4-6742-8081-AE7129BDD17A}" srcOrd="0" destOrd="0" presId="urn:microsoft.com/office/officeart/2008/layout/VerticalCurvedList"/>
    <dgm:cxn modelId="{2E7E7F86-77F2-F648-9D07-AC005909728D}" type="presParOf" srcId="{56FA6398-C497-114C-937A-0D14C59605F0}" destId="{40FD101B-19A2-D147-AD6A-621D1E6295F8}" srcOrd="0" destOrd="0" presId="urn:microsoft.com/office/officeart/2008/layout/VerticalCurvedList"/>
    <dgm:cxn modelId="{6CC48936-154D-C04C-862B-2322FC41AE08}" type="presParOf" srcId="{40FD101B-19A2-D147-AD6A-621D1E6295F8}" destId="{F74BFB27-CC0B-F54C-A1F7-9441D4B50550}" srcOrd="0" destOrd="0" presId="urn:microsoft.com/office/officeart/2008/layout/VerticalCurvedList"/>
    <dgm:cxn modelId="{D5E07DAF-E416-D048-9020-86A5397B765B}" type="presParOf" srcId="{F74BFB27-CC0B-F54C-A1F7-9441D4B50550}" destId="{6C6750D8-94E5-7B46-B034-017B58A59340}" srcOrd="0" destOrd="0" presId="urn:microsoft.com/office/officeart/2008/layout/VerticalCurvedList"/>
    <dgm:cxn modelId="{FDF92A15-41C1-9048-8E33-64D5891885E7}" type="presParOf" srcId="{F74BFB27-CC0B-F54C-A1F7-9441D4B50550}" destId="{C616B459-A4EC-C142-931C-E84B0156093C}" srcOrd="1" destOrd="0" presId="urn:microsoft.com/office/officeart/2008/layout/VerticalCurvedList"/>
    <dgm:cxn modelId="{437E25C3-C76D-9944-AE97-70FDC6F43BE6}" type="presParOf" srcId="{F74BFB27-CC0B-F54C-A1F7-9441D4B50550}" destId="{A8EC5385-E35C-F648-A065-8EFF70F72F24}" srcOrd="2" destOrd="0" presId="urn:microsoft.com/office/officeart/2008/layout/VerticalCurvedList"/>
    <dgm:cxn modelId="{5147722A-B60B-C14A-B2CD-78E52B54FC09}" type="presParOf" srcId="{F74BFB27-CC0B-F54C-A1F7-9441D4B50550}" destId="{88B05DA2-68EE-DC46-8C7D-FAC2A404930E}" srcOrd="3" destOrd="0" presId="urn:microsoft.com/office/officeart/2008/layout/VerticalCurvedList"/>
    <dgm:cxn modelId="{A38923F0-14D7-D345-86AB-F52A6F8DEF96}" type="presParOf" srcId="{40FD101B-19A2-D147-AD6A-621D1E6295F8}" destId="{A99BD7FE-6BF4-6742-8081-AE7129BDD17A}" srcOrd="1" destOrd="0" presId="urn:microsoft.com/office/officeart/2008/layout/VerticalCurvedList"/>
    <dgm:cxn modelId="{237C22E9-4BD2-E843-ADB2-31BFF1A06900}" type="presParOf" srcId="{40FD101B-19A2-D147-AD6A-621D1E6295F8}" destId="{0A7EF8A3-079D-9D48-A8A7-50525DD4AF76}" srcOrd="2" destOrd="0" presId="urn:microsoft.com/office/officeart/2008/layout/VerticalCurvedList"/>
    <dgm:cxn modelId="{99F534F1-874E-B447-92D8-6F822008400D}" type="presParOf" srcId="{0A7EF8A3-079D-9D48-A8A7-50525DD4AF76}" destId="{2B276353-273D-D84B-B50F-DBED3947DF8C}" srcOrd="0" destOrd="0" presId="urn:microsoft.com/office/officeart/2008/layout/VerticalCurvedList"/>
    <dgm:cxn modelId="{1DB4F372-E1F3-454F-ACC0-C98863ABB7D9}" type="presParOf" srcId="{40FD101B-19A2-D147-AD6A-621D1E6295F8}" destId="{07127821-F587-C94B-9FAE-B0179EAD0687}" srcOrd="3" destOrd="0" presId="urn:microsoft.com/office/officeart/2008/layout/VerticalCurvedList"/>
    <dgm:cxn modelId="{4C2F7814-0466-5746-AB73-1E7CDC9CCD94}" type="presParOf" srcId="{40FD101B-19A2-D147-AD6A-621D1E6295F8}" destId="{7EF88A09-73C3-0A45-9435-CB281DE7D98A}" srcOrd="4" destOrd="0" presId="urn:microsoft.com/office/officeart/2008/layout/VerticalCurvedList"/>
    <dgm:cxn modelId="{6BC4181B-019B-9C44-9D36-866549657C24}" type="presParOf" srcId="{7EF88A09-73C3-0A45-9435-CB281DE7D98A}" destId="{90DEEB99-F57C-A04F-8C82-388D1C04E9CE}" srcOrd="0" destOrd="0" presId="urn:microsoft.com/office/officeart/2008/layout/VerticalCurvedList"/>
    <dgm:cxn modelId="{50E947CF-BC5B-654B-B5E1-DE4645297D25}" type="presParOf" srcId="{40FD101B-19A2-D147-AD6A-621D1E6295F8}" destId="{C5FD8DE9-E4FF-1B46-847A-1CDF241A5F7B}" srcOrd="5" destOrd="0" presId="urn:microsoft.com/office/officeart/2008/layout/VerticalCurvedList"/>
    <dgm:cxn modelId="{1279BDCC-BF2C-C548-AC33-6B4465E0DA5A}" type="presParOf" srcId="{40FD101B-19A2-D147-AD6A-621D1E6295F8}" destId="{0C81473D-B80C-1342-9274-E2E9AB7075CB}" srcOrd="6" destOrd="0" presId="urn:microsoft.com/office/officeart/2008/layout/VerticalCurvedList"/>
    <dgm:cxn modelId="{D10DFE58-23D8-834B-9021-CE2F359C1BB0}" type="presParOf" srcId="{0C81473D-B80C-1342-9274-E2E9AB7075CB}" destId="{2138DE14-3BE2-3641-BC43-4F848E7329F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16B459-A4EC-C142-931C-E84B0156093C}">
      <dsp:nvSpPr>
        <dsp:cNvPr id="0" name=""/>
        <dsp:cNvSpPr/>
      </dsp:nvSpPr>
      <dsp:spPr>
        <a:xfrm>
          <a:off x="-5192139" y="-795313"/>
          <a:ext cx="6183150" cy="6183150"/>
        </a:xfrm>
        <a:prstGeom prst="blockArc">
          <a:avLst>
            <a:gd name="adj1" fmla="val 18900000"/>
            <a:gd name="adj2" fmla="val 2700000"/>
            <a:gd name="adj3" fmla="val 349"/>
          </a:avLst>
        </a:prstGeom>
        <a:noFill/>
        <a:ln w="635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9BD7FE-6BF4-6742-8081-AE7129BDD17A}">
      <dsp:nvSpPr>
        <dsp:cNvPr id="0" name=""/>
        <dsp:cNvSpPr/>
      </dsp:nvSpPr>
      <dsp:spPr>
        <a:xfrm>
          <a:off x="637442" y="459252"/>
          <a:ext cx="3790217" cy="9185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906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111+234=? ? </a:t>
          </a:r>
          <a:r>
            <a:rPr lang="en-US" sz="3000" kern="1200" dirty="0">
              <a:solidFill>
                <a:srgbClr val="C00000"/>
              </a:solidFill>
            </a:rPr>
            <a:t>5</a:t>
          </a:r>
        </a:p>
      </dsp:txBody>
      <dsp:txXfrm>
        <a:off x="637442" y="459252"/>
        <a:ext cx="3790217" cy="918504"/>
      </dsp:txXfrm>
    </dsp:sp>
    <dsp:sp modelId="{2B276353-273D-D84B-B50F-DBED3947DF8C}">
      <dsp:nvSpPr>
        <dsp:cNvPr id="0" name=""/>
        <dsp:cNvSpPr/>
      </dsp:nvSpPr>
      <dsp:spPr>
        <a:xfrm>
          <a:off x="63376" y="344439"/>
          <a:ext cx="1148130" cy="1148130"/>
        </a:xfrm>
        <a:prstGeom prst="ellipse">
          <a:avLst/>
        </a:prstGeom>
        <a:solidFill>
          <a:schemeClr val="tx2">
            <a:lumMod val="50000"/>
            <a:lumOff val="5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127821-F587-C94B-9FAE-B0179EAD0687}">
      <dsp:nvSpPr>
        <dsp:cNvPr id="0" name=""/>
        <dsp:cNvSpPr/>
      </dsp:nvSpPr>
      <dsp:spPr>
        <a:xfrm>
          <a:off x="971318" y="1837009"/>
          <a:ext cx="3456341" cy="9185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906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111+234=? </a:t>
          </a:r>
          <a:r>
            <a:rPr lang="en-US" sz="3000" kern="1200" dirty="0">
              <a:solidFill>
                <a:srgbClr val="C00000"/>
              </a:solidFill>
            </a:rPr>
            <a:t>4 </a:t>
          </a:r>
          <a:r>
            <a:rPr lang="en-US" sz="3000" kern="1200" dirty="0"/>
            <a:t>5</a:t>
          </a:r>
        </a:p>
      </dsp:txBody>
      <dsp:txXfrm>
        <a:off x="971318" y="1837009"/>
        <a:ext cx="3456341" cy="918504"/>
      </dsp:txXfrm>
    </dsp:sp>
    <dsp:sp modelId="{90DEEB99-F57C-A04F-8C82-388D1C04E9CE}">
      <dsp:nvSpPr>
        <dsp:cNvPr id="0" name=""/>
        <dsp:cNvSpPr/>
      </dsp:nvSpPr>
      <dsp:spPr>
        <a:xfrm>
          <a:off x="397253" y="1722196"/>
          <a:ext cx="1148130" cy="1148130"/>
        </a:xfrm>
        <a:prstGeom prst="ellipse">
          <a:avLst/>
        </a:prstGeom>
        <a:solidFill>
          <a:schemeClr val="accent2">
            <a:lumMod val="75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FD8DE9-E4FF-1B46-847A-1CDF241A5F7B}">
      <dsp:nvSpPr>
        <dsp:cNvPr id="0" name=""/>
        <dsp:cNvSpPr/>
      </dsp:nvSpPr>
      <dsp:spPr>
        <a:xfrm>
          <a:off x="637442" y="3214766"/>
          <a:ext cx="3790217" cy="9185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9063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111+234=</a:t>
          </a:r>
          <a:r>
            <a:rPr lang="en-US" sz="3000" kern="1200" dirty="0">
              <a:solidFill>
                <a:srgbClr val="C00000"/>
              </a:solidFill>
            </a:rPr>
            <a:t>3 </a:t>
          </a:r>
          <a:r>
            <a:rPr lang="en-US" sz="3000" kern="1200" dirty="0"/>
            <a:t>4 5</a:t>
          </a:r>
        </a:p>
      </dsp:txBody>
      <dsp:txXfrm>
        <a:off x="637442" y="3214766"/>
        <a:ext cx="3790217" cy="918504"/>
      </dsp:txXfrm>
    </dsp:sp>
    <dsp:sp modelId="{2138DE14-3BE2-3641-BC43-4F848E7329FF}">
      <dsp:nvSpPr>
        <dsp:cNvPr id="0" name=""/>
        <dsp:cNvSpPr/>
      </dsp:nvSpPr>
      <dsp:spPr>
        <a:xfrm>
          <a:off x="63376" y="3099953"/>
          <a:ext cx="1148130" cy="1148130"/>
        </a:xfrm>
        <a:prstGeom prst="ellipse">
          <a:avLst/>
        </a:prstGeom>
        <a:solidFill>
          <a:schemeClr val="accent6">
            <a:lumMod val="60000"/>
            <a:lumOff val="4000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DED2FD-C3E3-994F-A82F-1EEE8348B2F5}" type="datetimeFigureOut">
              <a:rPr lang="en-US" smtClean="0"/>
              <a:t>8/20/20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BDE43-457A-DB47-B6D8-F0681F88C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9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everyone, today I will lead a mini-workshop on the topic of Algorithms for Secondary School children aged 11 to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4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today’s workshop we will cover what is an algorithm and how we can create a simple algorithm ourselves. We will do that by first understanding how algorithms work and then trying to create one ourselves!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46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There is one important word we need to know for this lesson as we starts, It is Algorithm.</a:t>
            </a:r>
          </a:p>
          <a:p>
            <a:endParaRPr lang="en-US" baseline="0" dirty="0"/>
          </a:p>
          <a:p>
            <a:r>
              <a:rPr lang="en-US" baseline="0" dirty="0"/>
              <a:t>Have you heard that before? </a:t>
            </a:r>
          </a:p>
          <a:p>
            <a:r>
              <a:rPr lang="en-US" baseline="0" dirty="0"/>
              <a:t>No.. Can you say the word again?  A-L-G-O-R-I-T-H-M</a:t>
            </a:r>
          </a:p>
          <a:p>
            <a:r>
              <a:rPr lang="en-US" baseline="0" dirty="0"/>
              <a:t>Thank you.</a:t>
            </a:r>
          </a:p>
          <a:p>
            <a:endParaRPr lang="en-US" baseline="0" dirty="0"/>
          </a:p>
          <a:p>
            <a:r>
              <a:rPr lang="en-US" baseline="0" dirty="0"/>
              <a:t>Does anyone have an idea what could an Algorithm be?</a:t>
            </a:r>
          </a:p>
          <a:p>
            <a:r>
              <a:rPr lang="en-US" baseline="0" dirty="0"/>
              <a:t>Ok, it is a set of steps to solve a problem.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simple words, </a:t>
            </a:r>
            <a:r>
              <a:rPr lang="en-GB" dirty="0"/>
              <a:t>“doing things in the right order”!</a:t>
            </a:r>
            <a:endParaRPr lang="en-US" dirty="0"/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Do you think you guys used algorithm before? Like what? What it would be? </a:t>
            </a:r>
          </a:p>
          <a:p>
            <a:endParaRPr lang="en-US" baseline="0" dirty="0"/>
          </a:p>
          <a:p>
            <a:r>
              <a:rPr lang="en-US" baseline="0" dirty="0"/>
              <a:t>For example, a set of directions you use to get from home to school or a way to make tea! What happens if you first add water and then boil the kettle? Things go terribly wrong!</a:t>
            </a:r>
          </a:p>
          <a:p>
            <a:endParaRPr lang="en-US" baseline="0" dirty="0"/>
          </a:p>
          <a:p>
            <a:r>
              <a:rPr lang="en-US" baseline="0" dirty="0"/>
              <a:t>So why it is important for computing?</a:t>
            </a:r>
          </a:p>
          <a:p>
            <a:endParaRPr lang="en-US" baseline="0" dirty="0"/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computer will follow these instructions in the defined order or in other words follow an ‘algorithm’ in order to solve a task we require!</a:t>
            </a:r>
          </a:p>
          <a:p>
            <a:endParaRPr lang="en-GB" sz="1200" b="1" i="0" u="none" strike="noStrike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AN EXAMPLE IF YOU CAN when a computer follows an algorithm</a:t>
            </a:r>
            <a:endParaRPr lang="en-US" b="1" baseline="0" dirty="0"/>
          </a:p>
          <a:p>
            <a:endParaRPr lang="en-US" b="1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5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look at a simple example,</a:t>
            </a:r>
          </a:p>
          <a:p>
            <a:r>
              <a:rPr lang="en-US" dirty="0"/>
              <a:t>We can apply algorithms in math problems</a:t>
            </a:r>
          </a:p>
          <a:p>
            <a:r>
              <a:rPr lang="en-US" dirty="0"/>
              <a:t>For example, when we have to add large numbers such as 111 + 234</a:t>
            </a:r>
          </a:p>
          <a:p>
            <a:r>
              <a:rPr lang="en-US" dirty="0"/>
              <a:t>Can you break down the problem into little steps to guide me to do it?</a:t>
            </a:r>
          </a:p>
          <a:p>
            <a:r>
              <a:rPr lang="is-IS" dirty="0"/>
              <a:t>… Yes, Firstly, we do 1+4 =5. Secondly, we do 1+3=4. Lastly, we do 1+2=3</a:t>
            </a:r>
          </a:p>
          <a:p>
            <a:r>
              <a:rPr lang="is-IS" dirty="0"/>
              <a:t>So by adding these numbers in turn we get the right answer of 345!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13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s-IS" dirty="0"/>
              <a:t>Let us recap what we did.</a:t>
            </a:r>
          </a:p>
          <a:p>
            <a:r>
              <a:rPr lang="is-IS" dirty="0"/>
              <a:t>Well, we wanted to </a:t>
            </a:r>
            <a:r>
              <a:rPr lang="is-IS" b="1" dirty="0"/>
              <a:t>Solve a problem of </a:t>
            </a:r>
            <a:r>
              <a:rPr lang="is-IS" dirty="0"/>
              <a:t>Adding 111+234</a:t>
            </a:r>
          </a:p>
          <a:p>
            <a:r>
              <a:rPr lang="is-IS" b="1" dirty="0"/>
              <a:t>What did we know before </a:t>
            </a:r>
            <a:r>
              <a:rPr lang="is-IS" dirty="0"/>
              <a:t>solving this problem? </a:t>
            </a:r>
          </a:p>
          <a:p>
            <a:r>
              <a:rPr lang="is-IS" dirty="0"/>
              <a:t>We knew that 1+2 =3, 1+3=4, 1+4=5</a:t>
            </a:r>
          </a:p>
          <a:p>
            <a:r>
              <a:rPr lang="is-IS" dirty="0"/>
              <a:t>Now, in this case, we broke down a big problem into a sequence of little steps to finish the task of adding 111+234  </a:t>
            </a:r>
          </a:p>
          <a:p>
            <a:r>
              <a:rPr lang="is-IS" dirty="0"/>
              <a:t>Cool ! </a:t>
            </a:r>
            <a:r>
              <a:rPr lang="en-US" dirty="0"/>
              <a:t>T</a:t>
            </a:r>
            <a:r>
              <a:rPr lang="is-IS" dirty="0"/>
              <a:t>his is an algorithm! </a:t>
            </a:r>
          </a:p>
          <a:p>
            <a:r>
              <a:rPr lang="en-US" dirty="0"/>
              <a:t>Why? It is </a:t>
            </a:r>
            <a:r>
              <a:rPr lang="en-US" b="1" u="sng" dirty="0">
                <a:solidFill>
                  <a:schemeClr val="accent4">
                    <a:lumMod val="75000"/>
                  </a:schemeClr>
                </a:solidFill>
              </a:rPr>
              <a:t>A set of steps in a specific order that we can follow</a:t>
            </a:r>
            <a:r>
              <a:rPr lang="en-US" dirty="0"/>
              <a:t>, </a:t>
            </a:r>
          </a:p>
          <a:p>
            <a:r>
              <a:rPr lang="en-US" dirty="0"/>
              <a:t>when we followed it, what did we get?</a:t>
            </a:r>
          </a:p>
          <a:p>
            <a:r>
              <a:rPr lang="en-US" dirty="0"/>
              <a:t>we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Solved the problem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/>
              <a:t>!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67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I am going to turn</a:t>
            </a:r>
            <a:r>
              <a:rPr lang="en-US" baseline="0" dirty="0"/>
              <a:t> into a teacher robot. </a:t>
            </a:r>
          </a:p>
          <a:p>
            <a:r>
              <a:rPr lang="en-US" baseline="0" dirty="0"/>
              <a:t>I only follow specific instructions, </a:t>
            </a:r>
          </a:p>
          <a:p>
            <a:endParaRPr lang="en-US" baseline="0" dirty="0"/>
          </a:p>
          <a:p>
            <a:r>
              <a:rPr lang="en-US" dirty="0"/>
              <a:t>I am a teacher but I am going to turn into a teacher robot.</a:t>
            </a:r>
          </a:p>
          <a:p>
            <a:r>
              <a:rPr lang="en-US" dirty="0"/>
              <a:t>Now I am a teacher robot!</a:t>
            </a:r>
          </a:p>
          <a:p>
            <a:r>
              <a:rPr lang="is-IS" dirty="0"/>
              <a:t>…haha.. Well, now I am not clever, and I will do exactly what you tell me.</a:t>
            </a:r>
          </a:p>
          <a:p>
            <a:r>
              <a:rPr lang="is-IS" dirty="0"/>
              <a:t>But I only follow specific commands. What does that mean?</a:t>
            </a:r>
          </a:p>
          <a:p>
            <a:r>
              <a:rPr lang="is-IS" dirty="0"/>
              <a:t>I can only know certain instructions.</a:t>
            </a:r>
          </a:p>
          <a:p>
            <a:r>
              <a:rPr lang="is-IS" dirty="0"/>
              <a:t>My goal as a teacher robot is to figure out a journey from the starting position to the ending position. </a:t>
            </a:r>
          </a:p>
          <a:p>
            <a:r>
              <a:rPr lang="is-IS" dirty="0"/>
              <a:t>The </a:t>
            </a:r>
            <a:r>
              <a:rPr lang="is-IS" b="1" dirty="0"/>
              <a:t>Command List </a:t>
            </a:r>
            <a:r>
              <a:rPr lang="is-IS" dirty="0"/>
              <a:t>is </a:t>
            </a:r>
            <a:endParaRPr lang="en-US" dirty="0"/>
          </a:p>
          <a:p>
            <a:endParaRPr lang="is-I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will do this together in the class, then you will practice each other in groups, so you will be turn to students robots. I will be the teacher robot firstly. Let’s do it!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6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</a:t>
            </a:r>
            <a:r>
              <a:rPr lang="en-US" baseline="0" dirty="0"/>
              <a:t> this is my starting point, I am in the position A.</a:t>
            </a:r>
          </a:p>
          <a:p>
            <a:r>
              <a:rPr lang="en-US" baseline="0" dirty="0"/>
              <a:t>What would you tell me to do the next? Would you like me to move one square Up or Left?</a:t>
            </a:r>
          </a:p>
          <a:p>
            <a:r>
              <a:rPr lang="en-US" baseline="0" dirty="0"/>
              <a:t>So, from the starting position, what would be my very first command? What do you think?</a:t>
            </a:r>
          </a:p>
          <a:p>
            <a:endParaRPr lang="en-US" baseline="0" dirty="0"/>
          </a:p>
          <a:p>
            <a:r>
              <a:rPr lang="en-US" baseline="0" dirty="0"/>
              <a:t>Talk to your table group, what is the first step? Move  one square Up or Move one square Left?</a:t>
            </a:r>
          </a:p>
          <a:p>
            <a:endParaRPr lang="en-US" baseline="0" dirty="0"/>
          </a:p>
          <a:p>
            <a:r>
              <a:rPr lang="en-US" baseline="0" dirty="0"/>
              <a:t>Ok, you say Up, Let us see what happens. After moving one square up, I am now at here.</a:t>
            </a:r>
          </a:p>
          <a:p>
            <a:endParaRPr lang="en-US" baseline="0" dirty="0"/>
          </a:p>
          <a:p>
            <a:r>
              <a:rPr lang="en-US" baseline="0" dirty="0"/>
              <a:t>What is my next movement?   Ok, move one square right.  Now, I am here! Approaching my goal position. So what is the next?</a:t>
            </a:r>
          </a:p>
          <a:p>
            <a:r>
              <a:rPr lang="en-US" baseline="0" dirty="0"/>
              <a:t>Yes, that is Move one square Up.  Cool, I am now managing a journey through what you told me. </a:t>
            </a:r>
          </a:p>
          <a:p>
            <a:endParaRPr lang="en-US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 I want to simplify my writing of steps, could I draw symbol to represent the commands? Can you help me?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Ok, we use arrows.</a:t>
            </a:r>
            <a:r>
              <a:rPr lang="en-US" baseline="0" dirty="0"/>
              <a:t> The steps I followed is 1, up, 2. right, 3. up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>
                <a:solidFill>
                  <a:schemeClr val="accent6">
                    <a:lumMod val="75000"/>
                  </a:schemeClr>
                </a:solidFill>
              </a:rPr>
              <a:t>Now it is your turn to be a Student Robot! Find a journey following the steps your group friends can tell you.</a:t>
            </a:r>
          </a:p>
          <a:p>
            <a:endParaRPr lang="en-US" baseline="0" dirty="0"/>
          </a:p>
          <a:p>
            <a:r>
              <a:rPr lang="en-US" baseline="0" dirty="0"/>
              <a:t>Well, This time, I would like you </a:t>
            </a:r>
            <a:r>
              <a:rPr lang="en-US" b="1" baseline="0" dirty="0"/>
              <a:t>figure out together with your group partners a journey from A to B that covers all squares in the city</a:t>
            </a:r>
            <a:r>
              <a:rPr lang="en-US" baseline="0" dirty="0"/>
              <a:t>.</a:t>
            </a:r>
          </a:p>
          <a:p>
            <a:r>
              <a:rPr lang="en-US" baseline="0" dirty="0"/>
              <a:t>Can you do that?  How many steps do you need? Can you write down the steps on a piece of paper using arrows? </a:t>
            </a:r>
          </a:p>
          <a:p>
            <a:r>
              <a:rPr lang="en-US" baseline="0" dirty="0"/>
              <a:t>Alternatively can you write down the steps direction on the chat? </a:t>
            </a:r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19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</a:t>
            </a:r>
            <a:r>
              <a:rPr lang="en-US" baseline="0" dirty="0"/>
              <a:t> this is my starting point, I am in the position A.</a:t>
            </a:r>
          </a:p>
          <a:p>
            <a:r>
              <a:rPr lang="en-US" baseline="0" dirty="0"/>
              <a:t>What would you tell me to do the next? Would you like me to move one square Up or Left?</a:t>
            </a:r>
          </a:p>
          <a:p>
            <a:r>
              <a:rPr lang="en-US" baseline="0" dirty="0"/>
              <a:t>So, from the starting position, what would be my very first command? What do you think?</a:t>
            </a:r>
          </a:p>
          <a:p>
            <a:endParaRPr lang="en-US" baseline="0" dirty="0"/>
          </a:p>
          <a:p>
            <a:r>
              <a:rPr lang="en-US" baseline="0" dirty="0"/>
              <a:t>Talk to your table group, what is the first step? Move  one square Up or Move one square Left?</a:t>
            </a:r>
          </a:p>
          <a:p>
            <a:endParaRPr lang="en-US" baseline="0" dirty="0"/>
          </a:p>
          <a:p>
            <a:r>
              <a:rPr lang="en-US" baseline="0" dirty="0"/>
              <a:t>Ok, you say Up, Let us see what happens. After moving one square up, I am now at here.</a:t>
            </a:r>
          </a:p>
          <a:p>
            <a:endParaRPr lang="en-US" baseline="0" dirty="0"/>
          </a:p>
          <a:p>
            <a:r>
              <a:rPr lang="en-US" baseline="0" dirty="0"/>
              <a:t>What is my next movement?   Ok, move one square right.  Now, I am here! Approaching my goal position. So what is the next?</a:t>
            </a:r>
          </a:p>
          <a:p>
            <a:r>
              <a:rPr lang="en-US" baseline="0" dirty="0"/>
              <a:t>Yes, that is Move one square Up.  Cool, I am now managing a journey through what you told me. </a:t>
            </a:r>
          </a:p>
          <a:p>
            <a:endParaRPr lang="en-US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 I want to simplify my writing of steps, could I draw symbol to represent the commands? Can you help me?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Ok, we use arrows.</a:t>
            </a:r>
            <a:r>
              <a:rPr lang="en-US" baseline="0" dirty="0"/>
              <a:t> The steps I followed is 1, up, 2. right, 3. up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>
                <a:solidFill>
                  <a:schemeClr val="accent6">
                    <a:lumMod val="75000"/>
                  </a:schemeClr>
                </a:solidFill>
              </a:rPr>
              <a:t>Now it is your turn to be a Student Robot! Find a journey following the steps your group friends can tell you.</a:t>
            </a:r>
          </a:p>
          <a:p>
            <a:endParaRPr lang="en-US" baseline="0" dirty="0"/>
          </a:p>
          <a:p>
            <a:r>
              <a:rPr lang="en-US" baseline="0" dirty="0"/>
              <a:t>Well, This time, I would like you </a:t>
            </a:r>
            <a:r>
              <a:rPr lang="en-US" b="1" baseline="0" dirty="0"/>
              <a:t>figure out together with your group partners a journey from A to B that covers all squares in the city</a:t>
            </a:r>
            <a:r>
              <a:rPr lang="en-US" baseline="0" dirty="0"/>
              <a:t>.</a:t>
            </a:r>
          </a:p>
          <a:p>
            <a:r>
              <a:rPr lang="en-US" baseline="0" dirty="0"/>
              <a:t>Can you do that?  How many steps do you need? Can you write down the steps on a piece of paper using arrows? </a:t>
            </a:r>
          </a:p>
          <a:p>
            <a:r>
              <a:rPr lang="en-US" baseline="0" dirty="0"/>
              <a:t>Alternatively can you write down the steps direction on the chat? </a:t>
            </a:r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31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</a:t>
            </a:r>
            <a:r>
              <a:rPr lang="en-US" baseline="0" dirty="0"/>
              <a:t> this is my starting point, I am in the position A.</a:t>
            </a:r>
          </a:p>
          <a:p>
            <a:r>
              <a:rPr lang="en-US" baseline="0" dirty="0"/>
              <a:t>What would you tell me to do the next? Would you like me to move one square Up or Left?</a:t>
            </a:r>
          </a:p>
          <a:p>
            <a:r>
              <a:rPr lang="en-US" baseline="0" dirty="0"/>
              <a:t>So, from the starting position, what would be my very first command? What do you think?</a:t>
            </a:r>
          </a:p>
          <a:p>
            <a:endParaRPr lang="en-US" baseline="0" dirty="0"/>
          </a:p>
          <a:p>
            <a:r>
              <a:rPr lang="en-US" baseline="0" dirty="0"/>
              <a:t>Talk to your table group, what is the first step? Move  one square Up or Move one square Left?</a:t>
            </a:r>
          </a:p>
          <a:p>
            <a:endParaRPr lang="en-US" baseline="0" dirty="0"/>
          </a:p>
          <a:p>
            <a:r>
              <a:rPr lang="en-US" baseline="0" dirty="0"/>
              <a:t>Ok, you say Up, Let us see what happens. After moving one square up, I am now at here.</a:t>
            </a:r>
          </a:p>
          <a:p>
            <a:endParaRPr lang="en-US" baseline="0" dirty="0"/>
          </a:p>
          <a:p>
            <a:r>
              <a:rPr lang="en-US" baseline="0" dirty="0"/>
              <a:t>What is my next movement?   Ok, move one square right.  Now, I am here! Approaching my goal position. So what is the next?</a:t>
            </a:r>
          </a:p>
          <a:p>
            <a:r>
              <a:rPr lang="en-US" baseline="0" dirty="0"/>
              <a:t>Yes, that is Move one square Up.  Cool, I am now managing a journey through what you told me. </a:t>
            </a:r>
          </a:p>
          <a:p>
            <a:endParaRPr lang="en-US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 I want to simplify my writing of steps, could I draw symbol to represent the commands? Can you help me?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Ok, we use arrows.</a:t>
            </a:r>
            <a:r>
              <a:rPr lang="en-US" baseline="0" dirty="0"/>
              <a:t> The steps I followed is 1, up, 2. right, 3. up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>
                <a:solidFill>
                  <a:schemeClr val="accent6">
                    <a:lumMod val="75000"/>
                  </a:schemeClr>
                </a:solidFill>
              </a:rPr>
              <a:t>Now it is your turn to be a Student Robot! Find a journey following the steps your group friends can tell you.</a:t>
            </a:r>
          </a:p>
          <a:p>
            <a:endParaRPr lang="en-US" baseline="0" dirty="0"/>
          </a:p>
          <a:p>
            <a:r>
              <a:rPr lang="en-US" baseline="0" dirty="0"/>
              <a:t>Well, This time, I would like you </a:t>
            </a:r>
            <a:r>
              <a:rPr lang="en-US" b="1" baseline="0" dirty="0"/>
              <a:t>figure out together with your group partners a journey from A to B that covers all squares in the city</a:t>
            </a:r>
            <a:r>
              <a:rPr lang="en-US" baseline="0" dirty="0"/>
              <a:t>.</a:t>
            </a:r>
          </a:p>
          <a:p>
            <a:r>
              <a:rPr lang="en-US" baseline="0" dirty="0"/>
              <a:t>Can you do that?  How many steps do you need? Can you write down the steps on a piece of paper using arrows? </a:t>
            </a:r>
          </a:p>
          <a:p>
            <a:r>
              <a:rPr lang="en-US" baseline="0" dirty="0"/>
              <a:t>Alternatively can you write down the steps direction on the chat? </a:t>
            </a:r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96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</a:t>
            </a:r>
            <a:r>
              <a:rPr lang="en-US" baseline="0" dirty="0"/>
              <a:t> this is my starting point, I am in the position A.</a:t>
            </a:r>
          </a:p>
          <a:p>
            <a:r>
              <a:rPr lang="en-US" baseline="0" dirty="0"/>
              <a:t>What would you tell me to do the next? Would you like me to move one square Up or Left?</a:t>
            </a:r>
          </a:p>
          <a:p>
            <a:r>
              <a:rPr lang="en-US" baseline="0" dirty="0"/>
              <a:t>So, from the starting position, what would be my very first command? What do you think?</a:t>
            </a:r>
          </a:p>
          <a:p>
            <a:endParaRPr lang="en-US" baseline="0" dirty="0"/>
          </a:p>
          <a:p>
            <a:r>
              <a:rPr lang="en-US" baseline="0" dirty="0"/>
              <a:t>Talk to your table group, what is the first step? Move  one square Up or Move one square Left?</a:t>
            </a:r>
          </a:p>
          <a:p>
            <a:endParaRPr lang="en-US" baseline="0" dirty="0"/>
          </a:p>
          <a:p>
            <a:r>
              <a:rPr lang="en-US" baseline="0" dirty="0"/>
              <a:t>Ok, you say Up, Let us see what happens. After moving one square up, I am now at here.</a:t>
            </a:r>
          </a:p>
          <a:p>
            <a:endParaRPr lang="en-US" baseline="0" dirty="0"/>
          </a:p>
          <a:p>
            <a:r>
              <a:rPr lang="en-US" baseline="0" dirty="0"/>
              <a:t>What is my next movement?   Ok, move one square right.  Now, I am here! Approaching my goal position. So what is the next?</a:t>
            </a:r>
          </a:p>
          <a:p>
            <a:r>
              <a:rPr lang="en-US" baseline="0" dirty="0"/>
              <a:t>Yes, that is Move one square Up.  Cool, I am now managing a journey through what you told me. </a:t>
            </a:r>
          </a:p>
          <a:p>
            <a:endParaRPr lang="en-US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 I want to simplify my writing of steps, could I draw symbol to represent the commands? Can you help me?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Ok, we use arrows.</a:t>
            </a:r>
            <a:r>
              <a:rPr lang="en-US" baseline="0" dirty="0"/>
              <a:t> The steps I followed is 1, up, 2. right, 3. up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>
                <a:solidFill>
                  <a:schemeClr val="accent6">
                    <a:lumMod val="75000"/>
                  </a:schemeClr>
                </a:solidFill>
              </a:rPr>
              <a:t>Now it is your turn to be a Student Robot! Find a journey following the steps your group friends can tell you.</a:t>
            </a:r>
          </a:p>
          <a:p>
            <a:endParaRPr lang="en-US" baseline="0" dirty="0"/>
          </a:p>
          <a:p>
            <a:r>
              <a:rPr lang="en-US" baseline="0" dirty="0"/>
              <a:t>Well, This time, I would like you </a:t>
            </a:r>
            <a:r>
              <a:rPr lang="en-US" b="1" baseline="0" dirty="0"/>
              <a:t>figure out together with your group partners a journey from A to B that covers all squares in the city</a:t>
            </a:r>
            <a:r>
              <a:rPr lang="en-US" baseline="0" dirty="0"/>
              <a:t>.</a:t>
            </a:r>
          </a:p>
          <a:p>
            <a:r>
              <a:rPr lang="en-US" baseline="0" dirty="0"/>
              <a:t>Can you do that?  How many steps do you need? Can you write down the steps on a piece of paper using arrows? </a:t>
            </a:r>
          </a:p>
          <a:p>
            <a:r>
              <a:rPr lang="en-US" baseline="0" dirty="0"/>
              <a:t>Alternatively can you write down the steps direction on the chat? </a:t>
            </a:r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03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</a:t>
            </a:r>
            <a:r>
              <a:rPr lang="en-US" baseline="0" dirty="0"/>
              <a:t> this is my starting point, I am in the position A.</a:t>
            </a:r>
          </a:p>
          <a:p>
            <a:r>
              <a:rPr lang="en-US" baseline="0" dirty="0"/>
              <a:t>What would you tell me to do the next? Would you like me to move one square Up or Left?</a:t>
            </a:r>
          </a:p>
          <a:p>
            <a:r>
              <a:rPr lang="en-US" baseline="0" dirty="0"/>
              <a:t>So, from the starting position, what would be my very first command? What do you think?</a:t>
            </a:r>
          </a:p>
          <a:p>
            <a:endParaRPr lang="en-US" baseline="0" dirty="0"/>
          </a:p>
          <a:p>
            <a:r>
              <a:rPr lang="en-US" baseline="0" dirty="0"/>
              <a:t>Talk to your table group, what is the first step? Move  one square Up or Move one square Left?</a:t>
            </a:r>
          </a:p>
          <a:p>
            <a:endParaRPr lang="en-US" baseline="0" dirty="0"/>
          </a:p>
          <a:p>
            <a:r>
              <a:rPr lang="en-US" baseline="0" dirty="0"/>
              <a:t>Ok, you say Up, Let us see what happens. After moving one square up, I am now at here.</a:t>
            </a:r>
          </a:p>
          <a:p>
            <a:endParaRPr lang="en-US" baseline="0" dirty="0"/>
          </a:p>
          <a:p>
            <a:r>
              <a:rPr lang="en-US" baseline="0" dirty="0"/>
              <a:t>What is my next movement?   Ok, move one square right.  Now, I am here! Approaching my goal position. So what is the next?</a:t>
            </a:r>
          </a:p>
          <a:p>
            <a:r>
              <a:rPr lang="en-US" baseline="0" dirty="0"/>
              <a:t>Yes, that is Move one square Up.  Cool, I am now managing a journey through what you told me. </a:t>
            </a:r>
          </a:p>
          <a:p>
            <a:endParaRPr lang="en-US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 I want to simplify my writing of steps, could I draw symbol to represent the commands? Can you help me?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Ok, we use arrows.</a:t>
            </a:r>
            <a:r>
              <a:rPr lang="en-US" baseline="0" dirty="0"/>
              <a:t> The steps I followed is 1, up, 2. right, 3. up</a:t>
            </a:r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>
                <a:solidFill>
                  <a:schemeClr val="accent6">
                    <a:lumMod val="75000"/>
                  </a:schemeClr>
                </a:solidFill>
              </a:rPr>
              <a:t>Now it is your turn to be a Student Robot! Find a journey following the steps your group friends can tell you.</a:t>
            </a:r>
          </a:p>
          <a:p>
            <a:endParaRPr lang="en-US" baseline="0" dirty="0"/>
          </a:p>
          <a:p>
            <a:r>
              <a:rPr lang="en-US" baseline="0" dirty="0"/>
              <a:t>Well, This time, I would like you </a:t>
            </a:r>
            <a:r>
              <a:rPr lang="en-US" b="1" baseline="0" dirty="0"/>
              <a:t>figure out together with your group partners a journey from A to B that covers all squares in the city</a:t>
            </a:r>
            <a:r>
              <a:rPr lang="en-US" baseline="0" dirty="0"/>
              <a:t>.</a:t>
            </a:r>
          </a:p>
          <a:p>
            <a:r>
              <a:rPr lang="en-US" baseline="0" dirty="0"/>
              <a:t>Can you do that?  How many steps do you need? Can you write down the steps on a piece of paper using arrows? </a:t>
            </a:r>
          </a:p>
          <a:p>
            <a:r>
              <a:rPr lang="en-US" baseline="0" dirty="0"/>
              <a:t>Alternatively can you write down the steps direction on the chat? </a:t>
            </a:r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8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>
                <a:solidFill>
                  <a:schemeClr val="accent6">
                    <a:lumMod val="75000"/>
                  </a:schemeClr>
                </a:solidFill>
              </a:rPr>
              <a:t>Now it is your turn to be a Student Robot! Find a journey following the steps your group friends can tell you.</a:t>
            </a:r>
          </a:p>
          <a:p>
            <a:endParaRPr lang="en-US" baseline="0" dirty="0"/>
          </a:p>
          <a:p>
            <a:r>
              <a:rPr lang="en-US" baseline="0" dirty="0"/>
              <a:t>Well, This time, I would like you </a:t>
            </a:r>
            <a:r>
              <a:rPr lang="en-US" b="1" baseline="0" dirty="0"/>
              <a:t>figure out together with your group partners a journey from A to B that covers all squares in the city</a:t>
            </a:r>
            <a:r>
              <a:rPr lang="en-US" baseline="0" dirty="0"/>
              <a:t>.</a:t>
            </a:r>
          </a:p>
          <a:p>
            <a:r>
              <a:rPr lang="en-US" baseline="0" dirty="0"/>
              <a:t>Can you do that?  How many steps do you need? Can you write down the steps on a piece of paper using arrows? </a:t>
            </a:r>
          </a:p>
          <a:p>
            <a:r>
              <a:rPr lang="en-US" baseline="0" dirty="0"/>
              <a:t>Alternatively can you write down the steps direction on the chat?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are going to figure out together </a:t>
            </a:r>
            <a:r>
              <a:rPr lang="en-US" b="1" dirty="0"/>
              <a:t>a journey from A to B that covers all squares in the city</a:t>
            </a:r>
            <a:r>
              <a:rPr lang="en-US" dirty="0"/>
              <a:t> </a:t>
            </a:r>
          </a:p>
          <a:p>
            <a:r>
              <a:rPr lang="en-US" dirty="0"/>
              <a:t>How many steps do you need?</a:t>
            </a:r>
          </a:p>
          <a:p>
            <a:r>
              <a:rPr lang="en-US" dirty="0"/>
              <a:t>Can you write down the steps on a piece of paper using arrows? </a:t>
            </a:r>
          </a:p>
          <a:p>
            <a:r>
              <a:rPr lang="en-US" dirty="0"/>
              <a:t>Or can you write down the steps directions on the Zoom chat? </a:t>
            </a:r>
          </a:p>
          <a:p>
            <a:r>
              <a:rPr lang="en-US" dirty="0"/>
              <a:t>Group Activity Time/////</a:t>
            </a:r>
          </a:p>
          <a:p>
            <a:r>
              <a:rPr lang="en-US" dirty="0"/>
              <a:t>Ok, good, now I think you might workout a journey </a:t>
            </a:r>
          </a:p>
          <a:p>
            <a:r>
              <a:rPr lang="en-US" dirty="0"/>
              <a:t>1,           2,         3,            4,        </a:t>
            </a:r>
          </a:p>
          <a:p>
            <a:r>
              <a:rPr lang="en-US" dirty="0"/>
              <a:t>5, 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395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 Teacher Robot, following your instructions, I figured out a journey from A to B</a:t>
            </a:r>
          </a:p>
          <a:p>
            <a:r>
              <a:rPr lang="en-US" dirty="0"/>
              <a:t>1,         2,               3,</a:t>
            </a:r>
          </a:p>
          <a:p>
            <a:r>
              <a:rPr lang="en-US" dirty="0"/>
              <a:t>As Students Robots, you worked together with your group, a journey from A to B might be</a:t>
            </a:r>
          </a:p>
          <a:p>
            <a:r>
              <a:rPr lang="en-US" dirty="0"/>
              <a:t>1,           2,          3,            4,           5,  </a:t>
            </a:r>
          </a:p>
          <a:p>
            <a:r>
              <a:rPr lang="en-US" dirty="0"/>
              <a:t>Which journey did you prefer? Why? What was our main goal?</a:t>
            </a:r>
          </a:p>
          <a:p>
            <a:r>
              <a:rPr lang="en-US" dirty="0"/>
              <a:t>Can I change the order of the action steps in the journeys?</a:t>
            </a:r>
          </a:p>
          <a:p>
            <a:r>
              <a:rPr lang="en-US" b="1" dirty="0"/>
              <a:t>We can observe that </a:t>
            </a:r>
          </a:p>
          <a:p>
            <a:pPr lvl="1"/>
            <a:r>
              <a:rPr lang="en-US" dirty="0"/>
              <a:t>Algorithms must </a:t>
            </a:r>
            <a:r>
              <a:rPr lang="en-US" b="1" dirty="0"/>
              <a:t>be relevant to the problems </a:t>
            </a:r>
            <a:r>
              <a:rPr lang="en-US" dirty="0"/>
              <a:t>you are going to solve</a:t>
            </a:r>
          </a:p>
          <a:p>
            <a:pPr lvl="1"/>
            <a:r>
              <a:rPr lang="en-US" dirty="0"/>
              <a:t>When the algorithms work, we </a:t>
            </a:r>
            <a:r>
              <a:rPr lang="en-US" b="1" dirty="0"/>
              <a:t>prefer small number of steps</a:t>
            </a:r>
            <a:endParaRPr lang="en-US" dirty="0"/>
          </a:p>
          <a:p>
            <a:pPr lvl="1"/>
            <a:r>
              <a:rPr lang="en-US" dirty="0"/>
              <a:t>Algorithm must be </a:t>
            </a:r>
            <a:r>
              <a:rPr lang="en-US" b="1" dirty="0"/>
              <a:t>a list of clear steps in a correct order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EBDE43-457A-DB47-B6D8-F0681F88C8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83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8/20/20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8/20/20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8/20/20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8/20/20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Algorithms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Workshop by Min Wang</a:t>
            </a:r>
          </a:p>
        </p:txBody>
      </p:sp>
    </p:spTree>
    <p:extLst>
      <p:ext uri="{BB962C8B-B14F-4D97-AF65-F5344CB8AC3E}">
        <p14:creationId xmlns:p14="http://schemas.microsoft.com/office/powerpoint/2010/main" val="115776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46438"/>
          </a:xfrm>
        </p:spPr>
        <p:txBody>
          <a:bodyPr/>
          <a:lstStyle/>
          <a:p>
            <a:r>
              <a:rPr lang="en-US" altLang="zh-CN" dirty="0"/>
              <a:t>Today’s Workshop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Objective</a:t>
            </a:r>
          </a:p>
          <a:p>
            <a:pPr lvl="1"/>
            <a:r>
              <a:rPr lang="en-US" sz="2800" dirty="0"/>
              <a:t>Understand </a:t>
            </a:r>
            <a:r>
              <a:rPr lang="en-US" sz="2800" b="1" dirty="0"/>
              <a:t>algorithm</a:t>
            </a:r>
            <a:r>
              <a:rPr lang="en-US" sz="2800" dirty="0"/>
              <a:t> definition</a:t>
            </a:r>
          </a:p>
          <a:p>
            <a:pPr lvl="1"/>
            <a:r>
              <a:rPr lang="en-US" sz="2800" dirty="0"/>
              <a:t>Creating simple</a:t>
            </a:r>
            <a:r>
              <a:rPr lang="en-US" sz="2800" b="1" dirty="0"/>
              <a:t> algorithms</a:t>
            </a:r>
          </a:p>
          <a:p>
            <a:r>
              <a:rPr lang="en-US" sz="2800" dirty="0"/>
              <a:t>Agenda</a:t>
            </a:r>
          </a:p>
          <a:p>
            <a:pPr lvl="1"/>
            <a:r>
              <a:rPr lang="en-US" sz="2800" dirty="0"/>
              <a:t>Introduction</a:t>
            </a:r>
          </a:p>
          <a:p>
            <a:pPr lvl="1"/>
            <a:r>
              <a:rPr lang="en-US" sz="2800" dirty="0"/>
              <a:t>Activity</a:t>
            </a:r>
          </a:p>
          <a:p>
            <a:pPr lvl="1"/>
            <a:r>
              <a:rPr lang="en-US" sz="2800" dirty="0"/>
              <a:t>Wrap Up</a:t>
            </a:r>
          </a:p>
        </p:txBody>
      </p:sp>
    </p:spTree>
    <p:extLst>
      <p:ext uri="{BB962C8B-B14F-4D97-AF65-F5344CB8AC3E}">
        <p14:creationId xmlns:p14="http://schemas.microsoft.com/office/powerpoint/2010/main" val="1720492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1"/>
            <a:ext cx="9601200" cy="821724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1"/>
            <a:ext cx="9601200" cy="4855028"/>
          </a:xfrm>
        </p:spPr>
        <p:txBody>
          <a:bodyPr>
            <a:normAutofit/>
          </a:bodyPr>
          <a:lstStyle/>
          <a:p>
            <a:r>
              <a:rPr lang="en-US" sz="2800" dirty="0"/>
              <a:t>What is an algorithm?</a:t>
            </a:r>
          </a:p>
          <a:p>
            <a:r>
              <a:rPr lang="en-US" sz="2800" dirty="0"/>
              <a:t>A-L-G-O-R-I-T-H-M</a:t>
            </a:r>
          </a:p>
          <a:p>
            <a:r>
              <a:rPr lang="en-US" sz="2800" dirty="0"/>
              <a:t>Does anyone have an idea what could an algorithm be?</a:t>
            </a:r>
          </a:p>
          <a:p>
            <a:r>
              <a:rPr lang="en-US" sz="2800" dirty="0"/>
              <a:t>It is a list of </a:t>
            </a:r>
            <a:r>
              <a:rPr lang="en-US" sz="2800" b="1" dirty="0"/>
              <a:t>steps</a:t>
            </a:r>
            <a:r>
              <a:rPr lang="en-US" sz="2800" dirty="0"/>
              <a:t> that are done in </a:t>
            </a:r>
            <a:r>
              <a:rPr lang="en-US" sz="2800" b="1" dirty="0"/>
              <a:t>a</a:t>
            </a:r>
            <a:r>
              <a:rPr lang="en-US" sz="2800" dirty="0"/>
              <a:t> </a:t>
            </a:r>
            <a:r>
              <a:rPr lang="en-US" sz="2800" b="1" dirty="0"/>
              <a:t>specific order </a:t>
            </a:r>
            <a:r>
              <a:rPr lang="en-US" sz="2800" dirty="0"/>
              <a:t>to </a:t>
            </a:r>
            <a:r>
              <a:rPr lang="en-US" sz="2800" b="1" dirty="0"/>
              <a:t>solve a problem</a:t>
            </a:r>
            <a:r>
              <a:rPr lang="en-US" sz="2800" dirty="0"/>
              <a:t>.</a:t>
            </a:r>
          </a:p>
          <a:p>
            <a:r>
              <a:rPr lang="en-US" sz="2800" dirty="0"/>
              <a:t>In simple words, </a:t>
            </a:r>
            <a:r>
              <a:rPr lang="en-GB" sz="2800" dirty="0"/>
              <a:t>“doing things in the right order”!</a:t>
            </a:r>
          </a:p>
        </p:txBody>
      </p:sp>
    </p:spTree>
    <p:extLst>
      <p:ext uri="{BB962C8B-B14F-4D97-AF65-F5344CB8AC3E}">
        <p14:creationId xmlns:p14="http://schemas.microsoft.com/office/powerpoint/2010/main" val="2077664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26869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12669"/>
            <a:ext cx="9601200" cy="4987636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3200" dirty="0"/>
              <a:t>How can we add </a:t>
            </a: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US" sz="3600" b="1" dirty="0">
                <a:solidFill>
                  <a:srgbClr val="00B050"/>
                </a:solidFill>
              </a:rPr>
              <a:t>1</a:t>
            </a:r>
            <a:r>
              <a:rPr lang="en-US" sz="3600" b="1" dirty="0"/>
              <a:t>+</a:t>
            </a: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en-US" sz="3600" b="1" dirty="0">
                <a:solidFill>
                  <a:srgbClr val="00B050"/>
                </a:solidFill>
              </a:rPr>
              <a:t>4</a:t>
            </a:r>
            <a:r>
              <a:rPr lang="en-US" sz="3200" dirty="0"/>
              <a:t>?</a:t>
            </a:r>
          </a:p>
          <a:p>
            <a:r>
              <a:rPr lang="en-US" sz="3200" dirty="0"/>
              <a:t>Let’s first break it down!</a:t>
            </a:r>
          </a:p>
          <a:p>
            <a:r>
              <a:rPr lang="en-US" sz="3200" dirty="0">
                <a:solidFill>
                  <a:srgbClr val="00B050"/>
                </a:solidFill>
              </a:rPr>
              <a:t>First, we add 1+4 = 5</a:t>
            </a:r>
          </a:p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Then, we add 1+3 = 4</a:t>
            </a:r>
          </a:p>
          <a:p>
            <a:r>
              <a:rPr lang="en-US" sz="3200" dirty="0">
                <a:solidFill>
                  <a:schemeClr val="accent6"/>
                </a:solidFill>
              </a:rPr>
              <a:t>Finally we add 1+1 = 3</a:t>
            </a:r>
          </a:p>
          <a:p>
            <a:r>
              <a:rPr lang="en-US" sz="3200" dirty="0"/>
              <a:t>So 111+234 =…</a:t>
            </a:r>
          </a:p>
          <a:p>
            <a:endParaRPr lang="en-US" sz="3200" dirty="0">
              <a:solidFill>
                <a:schemeClr val="accent6"/>
              </a:solidFill>
            </a:endParaRPr>
          </a:p>
          <a:p>
            <a:endParaRPr lang="en-US" sz="32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accent6"/>
              </a:solidFill>
            </a:endParaRPr>
          </a:p>
          <a:p>
            <a:endParaRPr lang="en-US" sz="3200" dirty="0"/>
          </a:p>
          <a:p>
            <a:endParaRPr lang="en-US" sz="32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is-IS" dirty="0"/>
          </a:p>
          <a:p>
            <a:endParaRPr lang="is-IS" dirty="0"/>
          </a:p>
          <a:p>
            <a:endParaRPr lang="is-IS" dirty="0"/>
          </a:p>
          <a:p>
            <a:endParaRPr lang="is-IS" dirty="0"/>
          </a:p>
          <a:p>
            <a:endParaRPr lang="is-IS" dirty="0"/>
          </a:p>
          <a:p>
            <a:endParaRPr lang="is-IS" dirty="0"/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393350936"/>
              </p:ext>
            </p:extLst>
          </p:nvPr>
        </p:nvGraphicFramePr>
        <p:xfrm>
          <a:off x="7258050" y="1379651"/>
          <a:ext cx="4491037" cy="4592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3274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16B459-A4EC-C142-931C-E84B015609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276353-273D-D84B-B50F-DBED3947DF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99BD7FE-6BF4-6742-8081-AE7129BDD1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0DEEB99-F57C-A04F-8C82-388D1C04E9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127821-F587-C94B-9FAE-B0179EAD06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138DE14-3BE2-3641-BC43-4F848E7329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FD8DE9-E4FF-1B46-847A-1CDF241A5F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26869"/>
          </a:xfrm>
        </p:spPr>
        <p:txBody>
          <a:bodyPr/>
          <a:lstStyle/>
          <a:p>
            <a:r>
              <a:rPr lang="en-US" dirty="0"/>
              <a:t>This is an algorithm!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62298"/>
            <a:ext cx="9601200" cy="4505498"/>
          </a:xfrm>
        </p:spPr>
        <p:txBody>
          <a:bodyPr>
            <a:normAutofit/>
          </a:bodyPr>
          <a:lstStyle/>
          <a:p>
            <a:r>
              <a:rPr lang="is-IS" sz="2400" dirty="0"/>
              <a:t>We wanted to </a:t>
            </a:r>
            <a:r>
              <a:rPr lang="is-IS" sz="2400" b="1" dirty="0"/>
              <a:t>solve a problem</a:t>
            </a:r>
            <a:r>
              <a:rPr lang="is-IS" sz="2400" dirty="0"/>
              <a:t>: add 111+234</a:t>
            </a:r>
          </a:p>
          <a:p>
            <a:r>
              <a:rPr lang="is-IS" sz="2400" dirty="0"/>
              <a:t>What did we know before solving the problem? </a:t>
            </a:r>
          </a:p>
          <a:p>
            <a:r>
              <a:rPr lang="is-IS" sz="2400" dirty="0"/>
              <a:t>We knew that 1+2 =3, 1+3=4 and 1+4=5</a:t>
            </a:r>
          </a:p>
          <a:p>
            <a:r>
              <a:rPr lang="is-IS" sz="2400" dirty="0"/>
              <a:t>We broke down a big problem into a </a:t>
            </a:r>
            <a:r>
              <a:rPr lang="is-IS" sz="2400" b="1" dirty="0"/>
              <a:t>sequence of little steps to finish the task</a:t>
            </a:r>
            <a:r>
              <a:rPr lang="is-IS" sz="2400" dirty="0"/>
              <a:t> of adding 111+234  </a:t>
            </a:r>
          </a:p>
          <a:p>
            <a:r>
              <a:rPr lang="is-IS" sz="2400" dirty="0"/>
              <a:t>Cool! </a:t>
            </a:r>
            <a:r>
              <a:rPr lang="en-US" sz="2400" dirty="0"/>
              <a:t>T</a:t>
            </a:r>
            <a:r>
              <a:rPr lang="is-IS" sz="2400" dirty="0"/>
              <a:t>his is an algorithm!</a:t>
            </a:r>
          </a:p>
          <a:p>
            <a:r>
              <a:rPr lang="en-US" sz="2400" dirty="0"/>
              <a:t>Why? It is </a:t>
            </a: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a set of steps in a specific order we followed!</a:t>
            </a:r>
            <a:endParaRPr lang="en-US" sz="2400" dirty="0"/>
          </a:p>
          <a:p>
            <a:r>
              <a:rPr lang="en-US" sz="2400" dirty="0"/>
              <a:t>Once we followed it, what did we get?</a:t>
            </a:r>
          </a:p>
          <a:p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</a:rPr>
              <a:t>We solved a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883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44976"/>
            <a:ext cx="9601200" cy="694113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46167"/>
            <a:ext cx="4447786" cy="5170517"/>
          </a:xfrm>
        </p:spPr>
        <p:txBody>
          <a:bodyPr>
            <a:normAutofit/>
          </a:bodyPr>
          <a:lstStyle/>
          <a:p>
            <a:r>
              <a:rPr lang="en-US" dirty="0"/>
              <a:t>Let us do an activity of finding journeys in a city.</a:t>
            </a:r>
          </a:p>
          <a:p>
            <a:r>
              <a:rPr lang="en-US" dirty="0"/>
              <a:t>A city constructed from squares is like this: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Specify two positions in the city, </a:t>
            </a:r>
          </a:p>
          <a:p>
            <a:r>
              <a:rPr lang="en-US" dirty="0"/>
              <a:t>Let us use the letter A and B to label the two positions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half" idx="2"/>
          </p:nvPr>
        </p:nvSpPr>
        <p:spPr>
          <a:xfrm>
            <a:off x="6525014" y="1479664"/>
            <a:ext cx="4447786" cy="530352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Role play:</a:t>
            </a:r>
          </a:p>
          <a:p>
            <a:r>
              <a:rPr lang="en-US" dirty="0"/>
              <a:t>I am </a:t>
            </a:r>
            <a:r>
              <a:rPr lang="en-US" b="1" dirty="0"/>
              <a:t>a Teacher Robot</a:t>
            </a:r>
          </a:p>
          <a:p>
            <a:pPr lvl="1"/>
            <a:r>
              <a:rPr lang="en-US" i="0" dirty="0"/>
              <a:t>I am not clever, and I will do exactly what you tell me</a:t>
            </a:r>
          </a:p>
          <a:p>
            <a:r>
              <a:rPr lang="en-US" dirty="0"/>
              <a:t>I only </a:t>
            </a:r>
            <a:r>
              <a:rPr lang="en-US" b="1" dirty="0"/>
              <a:t>follow specific commands</a:t>
            </a:r>
          </a:p>
          <a:p>
            <a:pPr lvl="1"/>
            <a:r>
              <a:rPr lang="en-US" dirty="0"/>
              <a:t>It means I only know certain instructions</a:t>
            </a:r>
          </a:p>
          <a:p>
            <a:r>
              <a:rPr lang="en-US" b="1" dirty="0"/>
              <a:t>My</a:t>
            </a:r>
            <a:r>
              <a:rPr lang="en-US" dirty="0"/>
              <a:t> </a:t>
            </a:r>
            <a:r>
              <a:rPr lang="en-US" b="1" dirty="0"/>
              <a:t>goal </a:t>
            </a:r>
            <a:r>
              <a:rPr lang="en-US" dirty="0"/>
              <a:t>is to </a:t>
            </a:r>
            <a:r>
              <a:rPr lang="en-US" b="1" dirty="0"/>
              <a:t>figure out </a:t>
            </a:r>
            <a:r>
              <a:rPr lang="en-US" dirty="0"/>
              <a:t>a journey from A to B</a:t>
            </a:r>
          </a:p>
          <a:p>
            <a:r>
              <a:rPr lang="en-US" b="1" dirty="0"/>
              <a:t>Your job </a:t>
            </a:r>
            <a:r>
              <a:rPr lang="en-US" dirty="0"/>
              <a:t>in the class is to give me instructions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394065" y="2959336"/>
            <a:ext cx="1945180" cy="1895297"/>
            <a:chOff x="4036819" y="2732463"/>
            <a:chExt cx="2508068" cy="2332411"/>
          </a:xfrm>
        </p:grpSpPr>
        <p:sp>
          <p:nvSpPr>
            <p:cNvPr id="4" name="Rectangle 3"/>
            <p:cNvSpPr/>
            <p:nvPr/>
          </p:nvSpPr>
          <p:spPr>
            <a:xfrm>
              <a:off x="4036819" y="3502082"/>
              <a:ext cx="847898" cy="78139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876800" y="4283478"/>
              <a:ext cx="847898" cy="78139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876800" y="3502082"/>
              <a:ext cx="847898" cy="78139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696989" y="3502082"/>
              <a:ext cx="847898" cy="78139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696989" y="2732463"/>
              <a:ext cx="847898" cy="78139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036819" y="4283478"/>
              <a:ext cx="847898" cy="78139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075875" y="4256119"/>
            <a:ext cx="605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0548" y="2999947"/>
            <a:ext cx="605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4995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 build="p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1396839" y="466889"/>
            <a:ext cx="9601200" cy="662264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I am a Teacher Robot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sz="half" idx="2"/>
          </p:nvPr>
        </p:nvSpPr>
        <p:spPr>
          <a:xfrm>
            <a:off x="6525403" y="1313411"/>
            <a:ext cx="4447786" cy="5320145"/>
          </a:xfrm>
        </p:spPr>
        <p:txBody>
          <a:bodyPr>
            <a:normAutofit/>
          </a:bodyPr>
          <a:lstStyle/>
          <a:p>
            <a:r>
              <a:rPr lang="en-US" dirty="0"/>
              <a:t>From the starting position, what would be my very first command?</a:t>
            </a:r>
          </a:p>
          <a:p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2205229" y="2496829"/>
            <a:ext cx="2643449" cy="2809702"/>
            <a:chOff x="2394065" y="2959336"/>
            <a:chExt cx="1945180" cy="1895297"/>
          </a:xfrm>
        </p:grpSpPr>
        <p:grpSp>
          <p:nvGrpSpPr>
            <p:cNvPr id="7" name="Group 6"/>
            <p:cNvGrpSpPr/>
            <p:nvPr/>
          </p:nvGrpSpPr>
          <p:grpSpPr>
            <a:xfrm>
              <a:off x="2394065" y="2959336"/>
              <a:ext cx="1945180" cy="1895297"/>
              <a:chOff x="4036819" y="2732463"/>
              <a:chExt cx="2508068" cy="2332411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03681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76800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876800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69698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696989" y="2732463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036819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3051668" y="4339924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81642" y="3079582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</a:p>
          </p:txBody>
        </p:sp>
      </p:grpSp>
      <p:sp>
        <p:nvSpPr>
          <p:cNvPr id="17" name="Smiley Face 16"/>
          <p:cNvSpPr/>
          <p:nvPr/>
        </p:nvSpPr>
        <p:spPr>
          <a:xfrm>
            <a:off x="3175588" y="4543495"/>
            <a:ext cx="702731" cy="598964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7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1396839" y="466889"/>
            <a:ext cx="9601200" cy="662264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I am a Teacher Robot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sz="half" idx="2"/>
          </p:nvPr>
        </p:nvSpPr>
        <p:spPr>
          <a:xfrm>
            <a:off x="6525403" y="1313411"/>
            <a:ext cx="4447786" cy="5320145"/>
          </a:xfrm>
        </p:spPr>
        <p:txBody>
          <a:bodyPr>
            <a:normAutofit/>
          </a:bodyPr>
          <a:lstStyle/>
          <a:p>
            <a:r>
              <a:rPr lang="en-US" dirty="0"/>
              <a:t>From the starting position, what would be my very first command?</a:t>
            </a:r>
          </a:p>
          <a:p>
            <a:r>
              <a:rPr lang="en-US" dirty="0"/>
              <a:t>Move One Square </a:t>
            </a:r>
            <a:r>
              <a:rPr lang="en-US" b="1" dirty="0"/>
              <a:t>Up</a:t>
            </a:r>
            <a:r>
              <a:rPr lang="en-US" dirty="0"/>
              <a:t> or </a:t>
            </a:r>
            <a:r>
              <a:rPr lang="en-US" b="1" dirty="0"/>
              <a:t>Left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Step1:  Move One Square Up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205229" y="2496829"/>
            <a:ext cx="2643449" cy="2809702"/>
            <a:chOff x="2394065" y="2959336"/>
            <a:chExt cx="1945180" cy="1895297"/>
          </a:xfrm>
        </p:grpSpPr>
        <p:grpSp>
          <p:nvGrpSpPr>
            <p:cNvPr id="7" name="Group 6"/>
            <p:cNvGrpSpPr/>
            <p:nvPr/>
          </p:nvGrpSpPr>
          <p:grpSpPr>
            <a:xfrm>
              <a:off x="2394065" y="2959336"/>
              <a:ext cx="1945180" cy="1895297"/>
              <a:chOff x="4036819" y="2732463"/>
              <a:chExt cx="2508068" cy="2332411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03681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76800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876800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69698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696989" y="2732463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036819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3051668" y="4339924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81642" y="3079582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</a:p>
          </p:txBody>
        </p:sp>
      </p:grpSp>
      <p:sp>
        <p:nvSpPr>
          <p:cNvPr id="17" name="Smiley Face 16"/>
          <p:cNvSpPr/>
          <p:nvPr/>
        </p:nvSpPr>
        <p:spPr>
          <a:xfrm>
            <a:off x="3102181" y="3640526"/>
            <a:ext cx="702731" cy="598964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3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1396839" y="466889"/>
            <a:ext cx="9601200" cy="662264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I am a Teacher Robot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sz="half" idx="2"/>
          </p:nvPr>
        </p:nvSpPr>
        <p:spPr>
          <a:xfrm>
            <a:off x="6525403" y="1313411"/>
            <a:ext cx="4447786" cy="5320145"/>
          </a:xfrm>
        </p:spPr>
        <p:txBody>
          <a:bodyPr>
            <a:normAutofit/>
          </a:bodyPr>
          <a:lstStyle/>
          <a:p>
            <a:r>
              <a:rPr lang="en-US" dirty="0"/>
              <a:t>From the starting position, what would be my very first command?</a:t>
            </a:r>
          </a:p>
          <a:p>
            <a:r>
              <a:rPr lang="en-US" dirty="0"/>
              <a:t>Move One Square </a:t>
            </a:r>
            <a:r>
              <a:rPr lang="en-US" b="1" dirty="0"/>
              <a:t>Up</a:t>
            </a:r>
            <a:r>
              <a:rPr lang="en-US" dirty="0"/>
              <a:t> or </a:t>
            </a:r>
            <a:r>
              <a:rPr lang="en-US" b="1" dirty="0"/>
              <a:t>Left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Step1:  Move One Square Up</a:t>
            </a:r>
          </a:p>
          <a:p>
            <a:r>
              <a:rPr lang="en-US" dirty="0"/>
              <a:t>What is my next movement?</a:t>
            </a:r>
          </a:p>
          <a:p>
            <a:pPr lvl="1"/>
            <a:r>
              <a:rPr lang="en-US" dirty="0"/>
              <a:t>Step2: Move One Square Right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205229" y="2496829"/>
            <a:ext cx="2643449" cy="2809702"/>
            <a:chOff x="2394065" y="2959336"/>
            <a:chExt cx="1945180" cy="1895297"/>
          </a:xfrm>
        </p:grpSpPr>
        <p:grpSp>
          <p:nvGrpSpPr>
            <p:cNvPr id="7" name="Group 6"/>
            <p:cNvGrpSpPr/>
            <p:nvPr/>
          </p:nvGrpSpPr>
          <p:grpSpPr>
            <a:xfrm>
              <a:off x="2394065" y="2959336"/>
              <a:ext cx="1945180" cy="1895297"/>
              <a:chOff x="4036819" y="2732463"/>
              <a:chExt cx="2508068" cy="2332411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03681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76800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876800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69698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696989" y="2732463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036819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3051668" y="4339924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81642" y="3079582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</a:p>
          </p:txBody>
        </p:sp>
      </p:grpSp>
      <p:sp>
        <p:nvSpPr>
          <p:cNvPr id="17" name="Smiley Face 16"/>
          <p:cNvSpPr/>
          <p:nvPr/>
        </p:nvSpPr>
        <p:spPr>
          <a:xfrm>
            <a:off x="4075504" y="3555433"/>
            <a:ext cx="702731" cy="598964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3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1396839" y="466889"/>
            <a:ext cx="9601200" cy="662264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I am a Teacher Robot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sz="half" idx="2"/>
          </p:nvPr>
        </p:nvSpPr>
        <p:spPr>
          <a:xfrm>
            <a:off x="6525403" y="1313411"/>
            <a:ext cx="4447786" cy="5320145"/>
          </a:xfrm>
        </p:spPr>
        <p:txBody>
          <a:bodyPr>
            <a:normAutofit/>
          </a:bodyPr>
          <a:lstStyle/>
          <a:p>
            <a:r>
              <a:rPr lang="en-US" dirty="0"/>
              <a:t>From the starting position, what would be my very first command?</a:t>
            </a:r>
          </a:p>
          <a:p>
            <a:r>
              <a:rPr lang="en-US" dirty="0"/>
              <a:t>Move One Square </a:t>
            </a:r>
            <a:r>
              <a:rPr lang="en-US" b="1" dirty="0"/>
              <a:t>Up</a:t>
            </a:r>
            <a:r>
              <a:rPr lang="en-US" dirty="0"/>
              <a:t> or </a:t>
            </a:r>
            <a:r>
              <a:rPr lang="en-US" b="1" dirty="0"/>
              <a:t>Left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Step1:  Move One Square Up</a:t>
            </a:r>
          </a:p>
          <a:p>
            <a:r>
              <a:rPr lang="en-US" dirty="0"/>
              <a:t>What is my next movement?</a:t>
            </a:r>
          </a:p>
          <a:p>
            <a:pPr lvl="1"/>
            <a:r>
              <a:rPr lang="en-US" dirty="0"/>
              <a:t>Step2: Move One Square Right</a:t>
            </a:r>
          </a:p>
          <a:p>
            <a:r>
              <a:rPr lang="en-US" dirty="0"/>
              <a:t>What is the next?</a:t>
            </a:r>
          </a:p>
          <a:p>
            <a:pPr lvl="1"/>
            <a:r>
              <a:rPr lang="en-US" dirty="0"/>
              <a:t>Step3: Move One Square Up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2205229" y="2496829"/>
            <a:ext cx="2643449" cy="2809702"/>
            <a:chOff x="2394065" y="2959336"/>
            <a:chExt cx="1945180" cy="1895297"/>
          </a:xfrm>
        </p:grpSpPr>
        <p:grpSp>
          <p:nvGrpSpPr>
            <p:cNvPr id="7" name="Group 6"/>
            <p:cNvGrpSpPr/>
            <p:nvPr/>
          </p:nvGrpSpPr>
          <p:grpSpPr>
            <a:xfrm>
              <a:off x="2394065" y="2959336"/>
              <a:ext cx="1945180" cy="1895297"/>
              <a:chOff x="4036819" y="2732463"/>
              <a:chExt cx="2508068" cy="2332411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03681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76800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876800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69698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696989" y="2732463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036819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3051668" y="4339924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81642" y="3079582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</a:p>
          </p:txBody>
        </p:sp>
      </p:grpSp>
      <p:sp>
        <p:nvSpPr>
          <p:cNvPr id="17" name="Smiley Face 16"/>
          <p:cNvSpPr/>
          <p:nvPr/>
        </p:nvSpPr>
        <p:spPr>
          <a:xfrm>
            <a:off x="4075504" y="2621716"/>
            <a:ext cx="702731" cy="598964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8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1396839" y="466889"/>
            <a:ext cx="9601200" cy="662264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I am a Teacher Robot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sz="half" idx="2"/>
          </p:nvPr>
        </p:nvSpPr>
        <p:spPr>
          <a:xfrm>
            <a:off x="6525403" y="1313411"/>
            <a:ext cx="4447786" cy="532014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From the starting position, what would be my very first command?</a:t>
            </a:r>
          </a:p>
          <a:p>
            <a:r>
              <a:rPr lang="en-US" dirty="0"/>
              <a:t>Move One Square </a:t>
            </a:r>
            <a:r>
              <a:rPr lang="en-US" b="1" dirty="0"/>
              <a:t>Up</a:t>
            </a:r>
            <a:r>
              <a:rPr lang="en-US" dirty="0"/>
              <a:t> or </a:t>
            </a:r>
            <a:r>
              <a:rPr lang="en-US" b="1" dirty="0"/>
              <a:t>Left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Step1:  Move One Square Up</a:t>
            </a:r>
          </a:p>
          <a:p>
            <a:r>
              <a:rPr lang="en-US" dirty="0"/>
              <a:t>What is my next movement?</a:t>
            </a:r>
          </a:p>
          <a:p>
            <a:pPr lvl="1"/>
            <a:r>
              <a:rPr lang="en-US" dirty="0"/>
              <a:t>Step2: Move One Square Right</a:t>
            </a:r>
          </a:p>
          <a:p>
            <a:r>
              <a:rPr lang="en-US" dirty="0"/>
              <a:t>What is the next?</a:t>
            </a:r>
          </a:p>
          <a:p>
            <a:pPr lvl="1"/>
            <a:r>
              <a:rPr lang="en-US" dirty="0"/>
              <a:t>Step3: Move One Square Up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 am done by following your commands. Cool!</a:t>
            </a:r>
          </a:p>
          <a:p>
            <a:r>
              <a:rPr lang="en-US" dirty="0"/>
              <a:t>Can </a:t>
            </a:r>
            <a:r>
              <a:rPr lang="en-US"/>
              <a:t>I </a:t>
            </a:r>
            <a:r>
              <a:rPr lang="en-US" b="1" dirty="0"/>
              <a:t>s</a:t>
            </a:r>
            <a:r>
              <a:rPr lang="en-US" b="1"/>
              <a:t>implify </a:t>
            </a:r>
            <a:r>
              <a:rPr lang="en-US" b="1" dirty="0"/>
              <a:t>my writing of steps </a:t>
            </a:r>
            <a:r>
              <a:rPr lang="en-US" dirty="0"/>
              <a:t>using symbols?</a:t>
            </a:r>
          </a:p>
          <a:p>
            <a:r>
              <a:rPr lang="en-US" dirty="0"/>
              <a:t>The steps are: </a:t>
            </a:r>
          </a:p>
          <a:p>
            <a:r>
              <a:rPr lang="en-US" dirty="0"/>
              <a:t>1.         2.                  3. 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205229" y="2496829"/>
            <a:ext cx="2643449" cy="2809702"/>
            <a:chOff x="2394065" y="2959336"/>
            <a:chExt cx="1945180" cy="1895297"/>
          </a:xfrm>
        </p:grpSpPr>
        <p:grpSp>
          <p:nvGrpSpPr>
            <p:cNvPr id="7" name="Group 6"/>
            <p:cNvGrpSpPr/>
            <p:nvPr/>
          </p:nvGrpSpPr>
          <p:grpSpPr>
            <a:xfrm>
              <a:off x="2394065" y="2959336"/>
              <a:ext cx="1945180" cy="1895297"/>
              <a:chOff x="4036819" y="2732463"/>
              <a:chExt cx="2508068" cy="2332411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403681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876800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876800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69698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696989" y="2732463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036819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3051668" y="4339924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81642" y="3079582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</a:p>
          </p:txBody>
        </p:sp>
      </p:grpSp>
      <p:sp>
        <p:nvSpPr>
          <p:cNvPr id="17" name="Smiley Face 16"/>
          <p:cNvSpPr/>
          <p:nvPr/>
        </p:nvSpPr>
        <p:spPr>
          <a:xfrm>
            <a:off x="4075504" y="2621716"/>
            <a:ext cx="702731" cy="598964"/>
          </a:xfrm>
          <a:prstGeom prst="smileyFac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7431578" y="6035034"/>
            <a:ext cx="16626" cy="415636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8175153" y="6251163"/>
            <a:ext cx="574143" cy="8314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9642500" y="6010095"/>
            <a:ext cx="16626" cy="415636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20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2"/>
          <p:cNvSpPr>
            <a:spLocks noGrp="1"/>
          </p:cNvSpPr>
          <p:nvPr>
            <p:ph type="title"/>
          </p:nvPr>
        </p:nvSpPr>
        <p:spPr>
          <a:xfrm>
            <a:off x="1371600" y="257014"/>
            <a:ext cx="9601200" cy="61838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Now you are Students Robots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205229" y="2496829"/>
            <a:ext cx="2643449" cy="2809702"/>
            <a:chOff x="2394065" y="2959336"/>
            <a:chExt cx="1945180" cy="1895297"/>
          </a:xfrm>
        </p:grpSpPr>
        <p:grpSp>
          <p:nvGrpSpPr>
            <p:cNvPr id="7" name="Group 6"/>
            <p:cNvGrpSpPr/>
            <p:nvPr/>
          </p:nvGrpSpPr>
          <p:grpSpPr>
            <a:xfrm>
              <a:off x="2394065" y="2959336"/>
              <a:ext cx="1945180" cy="1895297"/>
              <a:chOff x="4036819" y="2732463"/>
              <a:chExt cx="2508068" cy="2332411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403681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876800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4876800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696989" y="3502082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696989" y="2732463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4036819" y="4283478"/>
                <a:ext cx="847898" cy="78139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3051668" y="4339924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81642" y="3079582"/>
              <a:ext cx="605767" cy="3944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>
                      <a:lumMod val="75000"/>
                    </a:schemeClr>
                  </a:solidFill>
                </a:rPr>
                <a:t>B</a:t>
              </a:r>
            </a:p>
          </p:txBody>
        </p:sp>
      </p:grpSp>
      <p:sp>
        <p:nvSpPr>
          <p:cNvPr id="16" name="Content Placeholder 24"/>
          <p:cNvSpPr>
            <a:spLocks noGrp="1"/>
          </p:cNvSpPr>
          <p:nvPr>
            <p:ph sz="half" idx="2"/>
          </p:nvPr>
        </p:nvSpPr>
        <p:spPr>
          <a:xfrm>
            <a:off x="6524625" y="1346661"/>
            <a:ext cx="4448175" cy="5336771"/>
          </a:xfrm>
        </p:spPr>
        <p:txBody>
          <a:bodyPr>
            <a:normAutofit/>
          </a:bodyPr>
          <a:lstStyle/>
          <a:p>
            <a:r>
              <a:rPr lang="en-US" dirty="0"/>
              <a:t>You are going to figure out together </a:t>
            </a:r>
            <a:r>
              <a:rPr lang="en-US" b="1" dirty="0"/>
              <a:t>a journey from A to B that covers all squares in the city</a:t>
            </a:r>
            <a:r>
              <a:rPr lang="en-US" dirty="0"/>
              <a:t> </a:t>
            </a:r>
          </a:p>
          <a:p>
            <a:r>
              <a:rPr lang="en-US" dirty="0"/>
              <a:t>How many steps do you need?</a:t>
            </a:r>
          </a:p>
          <a:p>
            <a:r>
              <a:rPr lang="en-US" dirty="0"/>
              <a:t>Can you write down the steps on a piece of paper using arrows? </a:t>
            </a:r>
          </a:p>
          <a:p>
            <a:r>
              <a:rPr lang="en-US" dirty="0"/>
              <a:t>Or can you write down the steps directions on the Zoom chat? </a:t>
            </a:r>
          </a:p>
          <a:p>
            <a:r>
              <a:rPr lang="en-US" dirty="0"/>
              <a:t>Group Activity Time/////</a:t>
            </a:r>
          </a:p>
          <a:p>
            <a:r>
              <a:rPr lang="en-US" dirty="0"/>
              <a:t>Ok, good, now I think you might workout a journey </a:t>
            </a:r>
          </a:p>
          <a:p>
            <a:r>
              <a:rPr lang="en-US" dirty="0"/>
              <a:t>1,           2,         3,            4,        </a:t>
            </a:r>
          </a:p>
          <a:p>
            <a:r>
              <a:rPr lang="en-US" dirty="0"/>
              <a:t>5,     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7315201" y="5636030"/>
            <a:ext cx="362425" cy="7626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8419450" y="5385963"/>
            <a:ext cx="17600" cy="432947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059164" y="5602780"/>
            <a:ext cx="486934" cy="7626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966028" y="5586153"/>
            <a:ext cx="365847" cy="15940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7478813" y="5818910"/>
            <a:ext cx="17600" cy="432947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90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71600" y="230694"/>
            <a:ext cx="9601200" cy="650455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/>
              <a:t>Wrap Up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371600" y="1246909"/>
            <a:ext cx="9601200" cy="5403273"/>
          </a:xfrm>
        </p:spPr>
        <p:txBody>
          <a:bodyPr/>
          <a:lstStyle/>
          <a:p>
            <a:r>
              <a:rPr lang="en-US" dirty="0"/>
              <a:t>As a Teacher Robot, following your instructions, I figured out a journey from A to B</a:t>
            </a:r>
          </a:p>
          <a:p>
            <a:r>
              <a:rPr lang="en-US" dirty="0"/>
              <a:t>1,         2,               3,</a:t>
            </a:r>
          </a:p>
          <a:p>
            <a:r>
              <a:rPr lang="en-US" dirty="0"/>
              <a:t>As Students Robots, you worked together with your group, a journey from A to B might be</a:t>
            </a:r>
          </a:p>
          <a:p>
            <a:r>
              <a:rPr lang="en-US" dirty="0"/>
              <a:t>1,           2,          3,            4,           5,  </a:t>
            </a:r>
          </a:p>
          <a:p>
            <a:r>
              <a:rPr lang="en-US" dirty="0"/>
              <a:t>Which journey did you prefer? Why? What was our main goal?</a:t>
            </a:r>
          </a:p>
          <a:p>
            <a:r>
              <a:rPr lang="en-US" dirty="0"/>
              <a:t>Can I change the order of the action steps in the journeys?</a:t>
            </a:r>
          </a:p>
          <a:p>
            <a:r>
              <a:rPr lang="en-US" b="1" dirty="0"/>
              <a:t>We can observe that </a:t>
            </a:r>
          </a:p>
          <a:p>
            <a:pPr lvl="1"/>
            <a:r>
              <a:rPr lang="en-US" dirty="0"/>
              <a:t>Algorithms must </a:t>
            </a:r>
            <a:r>
              <a:rPr lang="en-US" b="1" dirty="0"/>
              <a:t>be relevant to the problems </a:t>
            </a:r>
            <a:r>
              <a:rPr lang="en-US" dirty="0"/>
              <a:t>you are going to solve</a:t>
            </a:r>
          </a:p>
          <a:p>
            <a:pPr lvl="1"/>
            <a:r>
              <a:rPr lang="en-US" dirty="0"/>
              <a:t>When the algorithms work, we </a:t>
            </a:r>
            <a:r>
              <a:rPr lang="en-US" b="1" dirty="0"/>
              <a:t>prefer small number of steps</a:t>
            </a:r>
            <a:endParaRPr lang="en-US" dirty="0"/>
          </a:p>
          <a:p>
            <a:pPr lvl="1"/>
            <a:r>
              <a:rPr lang="en-US" dirty="0"/>
              <a:t>Algorithm must be </a:t>
            </a:r>
            <a:r>
              <a:rPr lang="en-US" b="1" dirty="0"/>
              <a:t>a list of clear steps in a correct order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211185" y="1674844"/>
            <a:ext cx="16626" cy="415636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954760" y="1890973"/>
            <a:ext cx="574143" cy="8314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4422107" y="1649905"/>
            <a:ext cx="16626" cy="415636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2211185" y="3081175"/>
            <a:ext cx="362425" cy="7626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3296084" y="2857072"/>
            <a:ext cx="17600" cy="432947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965091" y="3056921"/>
            <a:ext cx="486934" cy="7626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964364" y="3040978"/>
            <a:ext cx="365847" cy="15940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5944405" y="2790225"/>
            <a:ext cx="17600" cy="432947"/>
          </a:xfrm>
          <a:prstGeom prst="straightConnector1">
            <a:avLst/>
          </a:prstGeom>
          <a:ln w="63500">
            <a:solidFill>
              <a:schemeClr val="accent6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7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312</TotalTime>
  <Words>3094</Words>
  <Application>Microsoft Macintosh PowerPoint</Application>
  <PresentationFormat>Widescreen</PresentationFormat>
  <Paragraphs>341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Franklin Gothic Book</vt:lpstr>
      <vt:lpstr>Crop</vt:lpstr>
      <vt:lpstr>Algorithms </vt:lpstr>
      <vt:lpstr>Today’s Workshop</vt:lpstr>
      <vt:lpstr>Introduction</vt:lpstr>
      <vt:lpstr>Example</vt:lpstr>
      <vt:lpstr>This is an algorithm!</vt:lpstr>
      <vt:lpstr> Activity</vt:lpstr>
      <vt:lpstr>I am a Teacher Robot</vt:lpstr>
      <vt:lpstr>I am a Teacher Robot</vt:lpstr>
      <vt:lpstr>I am a Teacher Robot</vt:lpstr>
      <vt:lpstr>I am a Teacher Robot</vt:lpstr>
      <vt:lpstr>I am a Teacher Robot</vt:lpstr>
      <vt:lpstr>Now you are Students Robots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shop</dc:title>
  <dc:creator>Wang, Min</dc:creator>
  <cp:lastModifiedBy>Valeria Ioureva</cp:lastModifiedBy>
  <cp:revision>108</cp:revision>
  <dcterms:created xsi:type="dcterms:W3CDTF">2020-08-18T22:14:51Z</dcterms:created>
  <dcterms:modified xsi:type="dcterms:W3CDTF">2020-08-19T21:11:36Z</dcterms:modified>
</cp:coreProperties>
</file>