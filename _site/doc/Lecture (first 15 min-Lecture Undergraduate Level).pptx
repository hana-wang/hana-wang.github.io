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0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75" r:id="rId9"/>
    <p:sldId id="263" r:id="rId10"/>
    <p:sldId id="266" r:id="rId11"/>
    <p:sldId id="268" r:id="rId12"/>
    <p:sldId id="265" r:id="rId13"/>
    <p:sldId id="276" r:id="rId14"/>
    <p:sldId id="269" r:id="rId15"/>
    <p:sldId id="270" r:id="rId16"/>
    <p:sldId id="271" r:id="rId17"/>
    <p:sldId id="272" r:id="rId18"/>
    <p:sldId id="277" r:id="rId19"/>
    <p:sldId id="273" r:id="rId20"/>
    <p:sldId id="274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5"/>
    <p:restoredTop sz="94592"/>
  </p:normalViewPr>
  <p:slideViewPr>
    <p:cSldViewPr snapToGrid="0" snapToObjects="1">
      <p:cViewPr varScale="1">
        <p:scale>
          <a:sx n="104" d="100"/>
          <a:sy n="104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10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4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5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03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1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26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79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61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8/19/20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31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51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24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8/19/20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72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5227" y="2173898"/>
            <a:ext cx="8637073" cy="1372491"/>
          </a:xfrm>
        </p:spPr>
        <p:txBody>
          <a:bodyPr>
            <a:normAutofit fontScale="90000"/>
          </a:bodyPr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By Min Wang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0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Learning Objectives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Graph Searching Context</a:t>
            </a:r>
          </a:p>
          <a:p>
            <a:r>
              <a:rPr lang="en-US" dirty="0" smtClean="0"/>
              <a:t>Breadth-First Search Strategy</a:t>
            </a:r>
          </a:p>
          <a:p>
            <a:r>
              <a:rPr lang="en-US" dirty="0" smtClean="0"/>
              <a:t>Breadth-First Search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22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have some basic understanding </a:t>
            </a:r>
            <a:r>
              <a:rPr lang="en-US" dirty="0" smtClean="0"/>
              <a:t>of Graphs representations.</a:t>
            </a:r>
          </a:p>
          <a:p>
            <a:r>
              <a:rPr lang="en-US" dirty="0" smtClean="0"/>
              <a:t>Graph G=(V, E)</a:t>
            </a:r>
          </a:p>
          <a:p>
            <a:r>
              <a:rPr lang="en-US" dirty="0" smtClean="0"/>
              <a:t>V=set of vertices</a:t>
            </a:r>
          </a:p>
          <a:p>
            <a:r>
              <a:rPr lang="en-US" dirty="0" smtClean="0"/>
              <a:t>E=set of edges </a:t>
            </a:r>
          </a:p>
          <a:p>
            <a:r>
              <a:rPr lang="en-US" dirty="0" smtClean="0"/>
              <a:t>If E contains edges like e={s, w},  unordered pairs, then It is a undirected graph</a:t>
            </a:r>
          </a:p>
          <a:p>
            <a:r>
              <a:rPr lang="en-US" dirty="0" smtClean="0"/>
              <a:t>If E contains edges like e=(s, w), ordered pairs, then it is a directed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90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731449"/>
          </a:xfrm>
        </p:spPr>
        <p:txBody>
          <a:bodyPr>
            <a:normAutofit fontScale="90000"/>
          </a:bodyPr>
          <a:lstStyle/>
          <a:p>
            <a:r>
              <a:rPr lang="en-US" dirty="0"/>
              <a:t>Graph Searching Context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Graph</a:t>
            </a:r>
          </a:p>
          <a:p>
            <a:endParaRPr lang="en-US" dirty="0"/>
          </a:p>
          <a:p>
            <a:r>
              <a:rPr lang="en-US" dirty="0" smtClean="0"/>
              <a:t>Tree</a:t>
            </a:r>
          </a:p>
          <a:p>
            <a:endParaRPr lang="en-US" dirty="0"/>
          </a:p>
          <a:p>
            <a:r>
              <a:rPr lang="en-US" dirty="0" smtClean="0"/>
              <a:t>Sequence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One tree: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One traversal sequence: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026508" y="3509319"/>
            <a:ext cx="0" cy="531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026508" y="2471351"/>
            <a:ext cx="0" cy="50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7477644" y="2315347"/>
            <a:ext cx="1641643" cy="1325262"/>
            <a:chOff x="7576498" y="2357052"/>
            <a:chExt cx="1580693" cy="1276835"/>
          </a:xfrm>
        </p:grpSpPr>
        <p:sp>
          <p:nvSpPr>
            <p:cNvPr id="12" name="Oval 11"/>
            <p:cNvSpPr/>
            <p:nvPr/>
          </p:nvSpPr>
          <p:spPr>
            <a:xfrm>
              <a:off x="8687635" y="3176687"/>
              <a:ext cx="469556" cy="4572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76498" y="3176687"/>
              <a:ext cx="469556" cy="4572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125470" y="2357052"/>
              <a:ext cx="469556" cy="4572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en-US" dirty="0"/>
            </a:p>
          </p:txBody>
        </p:sp>
        <p:cxnSp>
          <p:nvCxnSpPr>
            <p:cNvPr id="16" name="Straight Arrow Connector 15"/>
            <p:cNvCxnSpPr>
              <a:stCxn id="14" idx="3"/>
            </p:cNvCxnSpPr>
            <p:nvPr/>
          </p:nvCxnSpPr>
          <p:spPr>
            <a:xfrm flipH="1">
              <a:off x="7890692" y="2747297"/>
              <a:ext cx="303543" cy="429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4" idx="5"/>
              <a:endCxn id="12" idx="0"/>
            </p:cNvCxnSpPr>
            <p:nvPr/>
          </p:nvCxnSpPr>
          <p:spPr>
            <a:xfrm>
              <a:off x="8526261" y="2747297"/>
              <a:ext cx="396152" cy="429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7400807" y="4396440"/>
            <a:ext cx="2461636" cy="474540"/>
            <a:chOff x="6990213" y="4457184"/>
            <a:chExt cx="2461636" cy="474540"/>
          </a:xfrm>
        </p:grpSpPr>
        <p:sp>
          <p:nvSpPr>
            <p:cNvPr id="20" name="Oval 19"/>
            <p:cNvSpPr/>
            <p:nvPr/>
          </p:nvSpPr>
          <p:spPr>
            <a:xfrm>
              <a:off x="6990213" y="4457184"/>
              <a:ext cx="487662" cy="47454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61576" y="4457184"/>
              <a:ext cx="487662" cy="47454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964187" y="4457184"/>
              <a:ext cx="487662" cy="47454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</a:t>
              </a:r>
              <a:endParaRPr lang="en-US" dirty="0"/>
            </a:p>
          </p:txBody>
        </p:sp>
        <p:cxnSp>
          <p:nvCxnSpPr>
            <p:cNvPr id="24" name="Straight Arrow Connector 23"/>
            <p:cNvCxnSpPr>
              <a:endCxn id="21" idx="2"/>
            </p:cNvCxnSpPr>
            <p:nvPr/>
          </p:nvCxnSpPr>
          <p:spPr>
            <a:xfrm>
              <a:off x="7477644" y="4694454"/>
              <a:ext cx="4839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8464029" y="4694454"/>
              <a:ext cx="5001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2194105" y="3550509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traversal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224517" y="2535727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traversal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9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Firstly, visit the vertex S and color it in Black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8368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174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37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3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86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dirty="0"/>
              <a:t>There might have edges between each other among the list of </a:t>
            </a:r>
            <a:r>
              <a:rPr lang="en-US" dirty="0" smtClean="0"/>
              <a:t>neighbor vertices of vertex S. But they are not visited in the traversal</a:t>
            </a:r>
          </a:p>
          <a:p>
            <a:pPr marL="228600" lvl="1">
              <a:spcBef>
                <a:spcPts val="1000"/>
              </a:spcBef>
            </a:pPr>
            <a:r>
              <a:rPr lang="en-US" dirty="0"/>
              <a:t>Observe that the visited vertices and edges form an tree </a:t>
            </a:r>
            <a:endParaRPr lang="en-US" dirty="0" smtClean="0"/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54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85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76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3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cxnSp>
        <p:nvCxnSpPr>
          <p:cNvPr id="27" name="Straight Connector 26"/>
          <p:cNvCxnSpPr>
            <a:stCxn id="7" idx="6"/>
            <a:endCxn id="18" idx="2"/>
          </p:cNvCxnSpPr>
          <p:nvPr/>
        </p:nvCxnSpPr>
        <p:spPr>
          <a:xfrm flipV="1">
            <a:off x="4234543" y="2291385"/>
            <a:ext cx="1099458" cy="40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4" idx="1"/>
          </p:cNvCxnSpPr>
          <p:nvPr/>
        </p:nvCxnSpPr>
        <p:spPr>
          <a:xfrm>
            <a:off x="4153070" y="4124600"/>
            <a:ext cx="1233539" cy="6914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2"/>
          </p:cNvCxnSpPr>
          <p:nvPr/>
        </p:nvCxnSpPr>
        <p:spPr>
          <a:xfrm flipV="1">
            <a:off x="4245429" y="3607148"/>
            <a:ext cx="1137897" cy="321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34543" y="4919147"/>
            <a:ext cx="1088571" cy="24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3" idx="2"/>
          </p:cNvCxnSpPr>
          <p:nvPr/>
        </p:nvCxnSpPr>
        <p:spPr>
          <a:xfrm>
            <a:off x="4251211" y="4017797"/>
            <a:ext cx="1099458" cy="259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5"/>
            <a:endCxn id="25" idx="2"/>
          </p:cNvCxnSpPr>
          <p:nvPr/>
        </p:nvCxnSpPr>
        <p:spPr>
          <a:xfrm>
            <a:off x="4171049" y="5053451"/>
            <a:ext cx="1162952" cy="5735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202796" y="3017493"/>
            <a:ext cx="1099458" cy="76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1" idx="1"/>
          </p:cNvCxnSpPr>
          <p:nvPr/>
        </p:nvCxnSpPr>
        <p:spPr>
          <a:xfrm>
            <a:off x="4202796" y="2439865"/>
            <a:ext cx="1200481" cy="420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0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cxnSp>
        <p:nvCxnSpPr>
          <p:cNvPr id="27" name="Straight Connector 26"/>
          <p:cNvCxnSpPr>
            <a:stCxn id="7" idx="6"/>
            <a:endCxn id="18" idx="2"/>
          </p:cNvCxnSpPr>
          <p:nvPr/>
        </p:nvCxnSpPr>
        <p:spPr>
          <a:xfrm flipV="1">
            <a:off x="4234543" y="2291385"/>
            <a:ext cx="1099458" cy="404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4" idx="1"/>
          </p:cNvCxnSpPr>
          <p:nvPr/>
        </p:nvCxnSpPr>
        <p:spPr>
          <a:xfrm>
            <a:off x="4153070" y="4124600"/>
            <a:ext cx="1233539" cy="69140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2"/>
          </p:cNvCxnSpPr>
          <p:nvPr/>
        </p:nvCxnSpPr>
        <p:spPr>
          <a:xfrm flipV="1">
            <a:off x="4245429" y="3607148"/>
            <a:ext cx="1137897" cy="32198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34543" y="4919147"/>
            <a:ext cx="1088571" cy="24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3" idx="2"/>
          </p:cNvCxnSpPr>
          <p:nvPr/>
        </p:nvCxnSpPr>
        <p:spPr>
          <a:xfrm>
            <a:off x="4251211" y="4017797"/>
            <a:ext cx="1099458" cy="2591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5"/>
            <a:endCxn id="25" idx="2"/>
          </p:cNvCxnSpPr>
          <p:nvPr/>
        </p:nvCxnSpPr>
        <p:spPr>
          <a:xfrm>
            <a:off x="4171049" y="5053451"/>
            <a:ext cx="1162952" cy="5735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202796" y="3017493"/>
            <a:ext cx="1099458" cy="76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1" idx="1"/>
          </p:cNvCxnSpPr>
          <p:nvPr/>
        </p:nvCxnSpPr>
        <p:spPr>
          <a:xfrm>
            <a:off x="4202796" y="2439865"/>
            <a:ext cx="1200481" cy="4209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9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cxnSp>
        <p:nvCxnSpPr>
          <p:cNvPr id="27" name="Straight Connector 26"/>
          <p:cNvCxnSpPr>
            <a:stCxn id="7" idx="6"/>
            <a:endCxn id="18" idx="2"/>
          </p:cNvCxnSpPr>
          <p:nvPr/>
        </p:nvCxnSpPr>
        <p:spPr>
          <a:xfrm flipV="1">
            <a:off x="4234543" y="2291385"/>
            <a:ext cx="1099458" cy="404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4" idx="1"/>
          </p:cNvCxnSpPr>
          <p:nvPr/>
        </p:nvCxnSpPr>
        <p:spPr>
          <a:xfrm>
            <a:off x="4153070" y="4124600"/>
            <a:ext cx="1233539" cy="69140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2"/>
          </p:cNvCxnSpPr>
          <p:nvPr/>
        </p:nvCxnSpPr>
        <p:spPr>
          <a:xfrm flipV="1">
            <a:off x="4245429" y="3607148"/>
            <a:ext cx="1137897" cy="32198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34543" y="4919147"/>
            <a:ext cx="1088571" cy="24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3" idx="2"/>
          </p:cNvCxnSpPr>
          <p:nvPr/>
        </p:nvCxnSpPr>
        <p:spPr>
          <a:xfrm>
            <a:off x="4251211" y="4017797"/>
            <a:ext cx="1099458" cy="2591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5"/>
            <a:endCxn id="25" idx="2"/>
          </p:cNvCxnSpPr>
          <p:nvPr/>
        </p:nvCxnSpPr>
        <p:spPr>
          <a:xfrm>
            <a:off x="4171049" y="5053451"/>
            <a:ext cx="1162952" cy="5735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202796" y="3017493"/>
            <a:ext cx="1099458" cy="76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1" idx="1"/>
          </p:cNvCxnSpPr>
          <p:nvPr/>
        </p:nvCxnSpPr>
        <p:spPr>
          <a:xfrm>
            <a:off x="4202796" y="2439865"/>
            <a:ext cx="1200481" cy="4209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8" idx="4"/>
            <a:endCxn id="21" idx="0"/>
          </p:cNvCxnSpPr>
          <p:nvPr/>
        </p:nvCxnSpPr>
        <p:spPr>
          <a:xfrm>
            <a:off x="5513615" y="2491179"/>
            <a:ext cx="16668" cy="311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4"/>
          </p:cNvCxnSpPr>
          <p:nvPr/>
        </p:nvCxnSpPr>
        <p:spPr>
          <a:xfrm flipH="1">
            <a:off x="5513615" y="4476700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521949" y="5157072"/>
            <a:ext cx="8334" cy="270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537938" y="3799973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54606" y="3207697"/>
            <a:ext cx="8334" cy="217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38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89846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cxnSp>
        <p:nvCxnSpPr>
          <p:cNvPr id="27" name="Straight Connector 26"/>
          <p:cNvCxnSpPr>
            <a:stCxn id="7" idx="6"/>
            <a:endCxn id="18" idx="2"/>
          </p:cNvCxnSpPr>
          <p:nvPr/>
        </p:nvCxnSpPr>
        <p:spPr>
          <a:xfrm flipV="1">
            <a:off x="4234543" y="2291385"/>
            <a:ext cx="1099458" cy="404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4" idx="1"/>
          </p:cNvCxnSpPr>
          <p:nvPr/>
        </p:nvCxnSpPr>
        <p:spPr>
          <a:xfrm>
            <a:off x="4153070" y="4124600"/>
            <a:ext cx="1233539" cy="69140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2"/>
          </p:cNvCxnSpPr>
          <p:nvPr/>
        </p:nvCxnSpPr>
        <p:spPr>
          <a:xfrm flipV="1">
            <a:off x="4245429" y="3607148"/>
            <a:ext cx="1137897" cy="32198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34543" y="4919147"/>
            <a:ext cx="1088571" cy="24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3" idx="2"/>
          </p:cNvCxnSpPr>
          <p:nvPr/>
        </p:nvCxnSpPr>
        <p:spPr>
          <a:xfrm>
            <a:off x="4251211" y="4017797"/>
            <a:ext cx="1099458" cy="2591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5"/>
            <a:endCxn id="25" idx="2"/>
          </p:cNvCxnSpPr>
          <p:nvPr/>
        </p:nvCxnSpPr>
        <p:spPr>
          <a:xfrm>
            <a:off x="4171049" y="5053451"/>
            <a:ext cx="1162952" cy="5735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202796" y="3017493"/>
            <a:ext cx="1099458" cy="76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1" idx="1"/>
          </p:cNvCxnSpPr>
          <p:nvPr/>
        </p:nvCxnSpPr>
        <p:spPr>
          <a:xfrm>
            <a:off x="4202796" y="2439865"/>
            <a:ext cx="1200481" cy="4209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8" idx="4"/>
            <a:endCxn id="21" idx="0"/>
          </p:cNvCxnSpPr>
          <p:nvPr/>
        </p:nvCxnSpPr>
        <p:spPr>
          <a:xfrm>
            <a:off x="5513615" y="2491179"/>
            <a:ext cx="16668" cy="311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4"/>
          </p:cNvCxnSpPr>
          <p:nvPr/>
        </p:nvCxnSpPr>
        <p:spPr>
          <a:xfrm flipH="1">
            <a:off x="5513615" y="4476700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521949" y="5157072"/>
            <a:ext cx="8334" cy="270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537938" y="3799973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54606" y="3207697"/>
            <a:ext cx="8334" cy="217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641207" y="1971938"/>
            <a:ext cx="342900" cy="2821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6679066" y="2525549"/>
            <a:ext cx="342900" cy="2821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8" name="Oval 47"/>
          <p:cNvSpPr/>
          <p:nvPr/>
        </p:nvSpPr>
        <p:spPr>
          <a:xfrm>
            <a:off x="6684731" y="3100414"/>
            <a:ext cx="342900" cy="2821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9" name="Oval 48"/>
          <p:cNvSpPr/>
          <p:nvPr/>
        </p:nvSpPr>
        <p:spPr>
          <a:xfrm>
            <a:off x="6675700" y="3779187"/>
            <a:ext cx="342900" cy="2821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6645764" y="4524260"/>
            <a:ext cx="342900" cy="2821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6684731" y="5534953"/>
            <a:ext cx="342900" cy="2821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2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89846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cxnSp>
        <p:nvCxnSpPr>
          <p:cNvPr id="27" name="Straight Connector 26"/>
          <p:cNvCxnSpPr>
            <a:stCxn id="7" idx="6"/>
            <a:endCxn id="18" idx="2"/>
          </p:cNvCxnSpPr>
          <p:nvPr/>
        </p:nvCxnSpPr>
        <p:spPr>
          <a:xfrm flipV="1">
            <a:off x="4234543" y="2291385"/>
            <a:ext cx="1099458" cy="404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4" idx="1"/>
          </p:cNvCxnSpPr>
          <p:nvPr/>
        </p:nvCxnSpPr>
        <p:spPr>
          <a:xfrm>
            <a:off x="4153070" y="4124600"/>
            <a:ext cx="1233539" cy="69140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2"/>
          </p:cNvCxnSpPr>
          <p:nvPr/>
        </p:nvCxnSpPr>
        <p:spPr>
          <a:xfrm flipV="1">
            <a:off x="4245429" y="3607148"/>
            <a:ext cx="1137897" cy="32198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34543" y="4919147"/>
            <a:ext cx="1088571" cy="24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3" idx="2"/>
          </p:cNvCxnSpPr>
          <p:nvPr/>
        </p:nvCxnSpPr>
        <p:spPr>
          <a:xfrm>
            <a:off x="4251211" y="4017797"/>
            <a:ext cx="1099458" cy="2591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5"/>
            <a:endCxn id="25" idx="2"/>
          </p:cNvCxnSpPr>
          <p:nvPr/>
        </p:nvCxnSpPr>
        <p:spPr>
          <a:xfrm>
            <a:off x="4171049" y="5053451"/>
            <a:ext cx="1162952" cy="5735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202796" y="3017493"/>
            <a:ext cx="1099458" cy="76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1" idx="1"/>
          </p:cNvCxnSpPr>
          <p:nvPr/>
        </p:nvCxnSpPr>
        <p:spPr>
          <a:xfrm>
            <a:off x="4202796" y="2439865"/>
            <a:ext cx="1200481" cy="4209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8" idx="4"/>
            <a:endCxn id="21" idx="0"/>
          </p:cNvCxnSpPr>
          <p:nvPr/>
        </p:nvCxnSpPr>
        <p:spPr>
          <a:xfrm>
            <a:off x="5513615" y="2491179"/>
            <a:ext cx="16668" cy="311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4"/>
          </p:cNvCxnSpPr>
          <p:nvPr/>
        </p:nvCxnSpPr>
        <p:spPr>
          <a:xfrm flipH="1">
            <a:off x="5513615" y="4476700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521949" y="5157072"/>
            <a:ext cx="8334" cy="270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537938" y="3799973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54606" y="3207697"/>
            <a:ext cx="8334" cy="217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641207" y="1971938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6679066" y="2525549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8" name="Oval 47"/>
          <p:cNvSpPr/>
          <p:nvPr/>
        </p:nvSpPr>
        <p:spPr>
          <a:xfrm>
            <a:off x="6684731" y="3100414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9" name="Oval 48"/>
          <p:cNvSpPr/>
          <p:nvPr/>
        </p:nvSpPr>
        <p:spPr>
          <a:xfrm>
            <a:off x="6675700" y="3779187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6645764" y="4524260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6684731" y="5534953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9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89846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cxnSp>
        <p:nvCxnSpPr>
          <p:cNvPr id="27" name="Straight Connector 26"/>
          <p:cNvCxnSpPr>
            <a:stCxn id="7" idx="6"/>
            <a:endCxn id="18" idx="2"/>
          </p:cNvCxnSpPr>
          <p:nvPr/>
        </p:nvCxnSpPr>
        <p:spPr>
          <a:xfrm flipV="1">
            <a:off x="4234543" y="2291385"/>
            <a:ext cx="1099458" cy="404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4" idx="1"/>
          </p:cNvCxnSpPr>
          <p:nvPr/>
        </p:nvCxnSpPr>
        <p:spPr>
          <a:xfrm>
            <a:off x="4153070" y="4124600"/>
            <a:ext cx="1233539" cy="69140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2"/>
          </p:cNvCxnSpPr>
          <p:nvPr/>
        </p:nvCxnSpPr>
        <p:spPr>
          <a:xfrm flipV="1">
            <a:off x="4245429" y="3607148"/>
            <a:ext cx="1137897" cy="32198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34543" y="4919147"/>
            <a:ext cx="1088571" cy="24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3" idx="2"/>
          </p:cNvCxnSpPr>
          <p:nvPr/>
        </p:nvCxnSpPr>
        <p:spPr>
          <a:xfrm>
            <a:off x="4251211" y="4017797"/>
            <a:ext cx="1099458" cy="2591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5"/>
            <a:endCxn id="25" idx="2"/>
          </p:cNvCxnSpPr>
          <p:nvPr/>
        </p:nvCxnSpPr>
        <p:spPr>
          <a:xfrm>
            <a:off x="4171049" y="5053451"/>
            <a:ext cx="1162952" cy="5735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202796" y="3017493"/>
            <a:ext cx="1099458" cy="76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1" idx="1"/>
          </p:cNvCxnSpPr>
          <p:nvPr/>
        </p:nvCxnSpPr>
        <p:spPr>
          <a:xfrm>
            <a:off x="4202796" y="2439865"/>
            <a:ext cx="1200481" cy="4209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8" idx="4"/>
            <a:endCxn id="21" idx="0"/>
          </p:cNvCxnSpPr>
          <p:nvPr/>
        </p:nvCxnSpPr>
        <p:spPr>
          <a:xfrm>
            <a:off x="5513615" y="2491179"/>
            <a:ext cx="16668" cy="311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4"/>
          </p:cNvCxnSpPr>
          <p:nvPr/>
        </p:nvCxnSpPr>
        <p:spPr>
          <a:xfrm flipH="1">
            <a:off x="5513615" y="4476700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521949" y="5157072"/>
            <a:ext cx="8334" cy="270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537938" y="3799973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54606" y="3207697"/>
            <a:ext cx="8334" cy="217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641207" y="1971938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6679066" y="2525549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8" name="Oval 47"/>
          <p:cNvSpPr/>
          <p:nvPr/>
        </p:nvSpPr>
        <p:spPr>
          <a:xfrm>
            <a:off x="6684731" y="3100414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9" name="Oval 48"/>
          <p:cNvSpPr/>
          <p:nvPr/>
        </p:nvSpPr>
        <p:spPr>
          <a:xfrm>
            <a:off x="6675700" y="3779187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6645764" y="4524260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6684731" y="5534953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en-US" dirty="0"/>
          </a:p>
        </p:txBody>
      </p:sp>
      <p:cxnSp>
        <p:nvCxnSpPr>
          <p:cNvPr id="19" name="Straight Connector 18"/>
          <p:cNvCxnSpPr>
            <a:endCxn id="48" idx="2"/>
          </p:cNvCxnSpPr>
          <p:nvPr/>
        </p:nvCxnSpPr>
        <p:spPr>
          <a:xfrm>
            <a:off x="5709897" y="2331866"/>
            <a:ext cx="974834" cy="909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endCxn id="50" idx="2"/>
          </p:cNvCxnSpPr>
          <p:nvPr/>
        </p:nvCxnSpPr>
        <p:spPr>
          <a:xfrm>
            <a:off x="5700788" y="4342771"/>
            <a:ext cx="944976" cy="3225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endCxn id="49" idx="1"/>
          </p:cNvCxnSpPr>
          <p:nvPr/>
        </p:nvCxnSpPr>
        <p:spPr>
          <a:xfrm>
            <a:off x="5722635" y="3029984"/>
            <a:ext cx="1003282" cy="7905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51" idx="1"/>
          </p:cNvCxnSpPr>
          <p:nvPr/>
        </p:nvCxnSpPr>
        <p:spPr>
          <a:xfrm>
            <a:off x="5679996" y="4960276"/>
            <a:ext cx="1054952" cy="61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0" idx="3"/>
          </p:cNvCxnSpPr>
          <p:nvPr/>
        </p:nvCxnSpPr>
        <p:spPr>
          <a:xfrm flipV="1">
            <a:off x="5702592" y="4765106"/>
            <a:ext cx="993389" cy="760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48" idx="3"/>
          </p:cNvCxnSpPr>
          <p:nvPr/>
        </p:nvCxnSpPr>
        <p:spPr>
          <a:xfrm flipV="1">
            <a:off x="5739755" y="3341260"/>
            <a:ext cx="995193" cy="370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endCxn id="47" idx="1"/>
          </p:cNvCxnSpPr>
          <p:nvPr/>
        </p:nvCxnSpPr>
        <p:spPr>
          <a:xfrm>
            <a:off x="5696319" y="2328556"/>
            <a:ext cx="1032964" cy="238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46" idx="2"/>
          </p:cNvCxnSpPr>
          <p:nvPr/>
        </p:nvCxnSpPr>
        <p:spPr>
          <a:xfrm flipV="1">
            <a:off x="5700788" y="2113023"/>
            <a:ext cx="940419" cy="172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63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89846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594919" y="3484606"/>
            <a:ext cx="457200" cy="42013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3864427" y="2934637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875314" y="21359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06486" y="2367646"/>
            <a:ext cx="957941" cy="11169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058886" y="3201850"/>
            <a:ext cx="798774" cy="4351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</p:cNvCxnSpPr>
          <p:nvPr/>
        </p:nvCxnSpPr>
        <p:spPr>
          <a:xfrm>
            <a:off x="2985164" y="3843209"/>
            <a:ext cx="872496" cy="821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9" idx="2"/>
          </p:cNvCxnSpPr>
          <p:nvPr/>
        </p:nvCxnSpPr>
        <p:spPr>
          <a:xfrm>
            <a:off x="2823519" y="3934043"/>
            <a:ext cx="1040909" cy="980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33154" y="334879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</p:cNvCxnSpPr>
          <p:nvPr/>
        </p:nvCxnSpPr>
        <p:spPr>
          <a:xfrm flipH="1">
            <a:off x="4038600" y="4159201"/>
            <a:ext cx="16329" cy="507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34001" y="209159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350669" y="2802260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383326" y="340735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350669" y="407711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1" y="4757483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334001" y="5427241"/>
            <a:ext cx="359228" cy="39958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cxnSp>
        <p:nvCxnSpPr>
          <p:cNvPr id="27" name="Straight Connector 26"/>
          <p:cNvCxnSpPr>
            <a:stCxn id="7" idx="6"/>
            <a:endCxn id="18" idx="2"/>
          </p:cNvCxnSpPr>
          <p:nvPr/>
        </p:nvCxnSpPr>
        <p:spPr>
          <a:xfrm flipV="1">
            <a:off x="4234543" y="2291385"/>
            <a:ext cx="1099458" cy="404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4" idx="1"/>
          </p:cNvCxnSpPr>
          <p:nvPr/>
        </p:nvCxnSpPr>
        <p:spPr>
          <a:xfrm>
            <a:off x="4153070" y="4124600"/>
            <a:ext cx="1233539" cy="69140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2"/>
          </p:cNvCxnSpPr>
          <p:nvPr/>
        </p:nvCxnSpPr>
        <p:spPr>
          <a:xfrm flipV="1">
            <a:off x="4245429" y="3607148"/>
            <a:ext cx="1137897" cy="32198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234543" y="4919147"/>
            <a:ext cx="1088571" cy="24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3" idx="2"/>
          </p:cNvCxnSpPr>
          <p:nvPr/>
        </p:nvCxnSpPr>
        <p:spPr>
          <a:xfrm>
            <a:off x="4251211" y="4017797"/>
            <a:ext cx="1099458" cy="2591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5"/>
            <a:endCxn id="25" idx="2"/>
          </p:cNvCxnSpPr>
          <p:nvPr/>
        </p:nvCxnSpPr>
        <p:spPr>
          <a:xfrm>
            <a:off x="4171049" y="5053451"/>
            <a:ext cx="1162952" cy="5735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202796" y="3017493"/>
            <a:ext cx="1099458" cy="76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1" idx="1"/>
          </p:cNvCxnSpPr>
          <p:nvPr/>
        </p:nvCxnSpPr>
        <p:spPr>
          <a:xfrm>
            <a:off x="4202796" y="2439865"/>
            <a:ext cx="1200481" cy="4209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8" idx="4"/>
            <a:endCxn id="21" idx="0"/>
          </p:cNvCxnSpPr>
          <p:nvPr/>
        </p:nvCxnSpPr>
        <p:spPr>
          <a:xfrm>
            <a:off x="5513615" y="2491179"/>
            <a:ext cx="16668" cy="311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4"/>
          </p:cNvCxnSpPr>
          <p:nvPr/>
        </p:nvCxnSpPr>
        <p:spPr>
          <a:xfrm flipH="1">
            <a:off x="5513615" y="4476700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521949" y="5157072"/>
            <a:ext cx="8334" cy="270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537938" y="3799973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54606" y="3207697"/>
            <a:ext cx="8334" cy="217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641207" y="1971938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6679066" y="2525549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8" name="Oval 47"/>
          <p:cNvSpPr/>
          <p:nvPr/>
        </p:nvSpPr>
        <p:spPr>
          <a:xfrm>
            <a:off x="6684731" y="3100414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9" name="Oval 48"/>
          <p:cNvSpPr/>
          <p:nvPr/>
        </p:nvSpPr>
        <p:spPr>
          <a:xfrm>
            <a:off x="6675700" y="3779187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6645764" y="4524260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6684731" y="5534953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en-US" dirty="0"/>
          </a:p>
        </p:txBody>
      </p:sp>
      <p:cxnSp>
        <p:nvCxnSpPr>
          <p:cNvPr id="19" name="Straight Connector 18"/>
          <p:cNvCxnSpPr>
            <a:endCxn id="48" idx="2"/>
          </p:cNvCxnSpPr>
          <p:nvPr/>
        </p:nvCxnSpPr>
        <p:spPr>
          <a:xfrm>
            <a:off x="5709897" y="2331866"/>
            <a:ext cx="974834" cy="90963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endCxn id="50" idx="2"/>
          </p:cNvCxnSpPr>
          <p:nvPr/>
        </p:nvCxnSpPr>
        <p:spPr>
          <a:xfrm>
            <a:off x="5700788" y="4342771"/>
            <a:ext cx="944976" cy="32257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endCxn id="49" idx="1"/>
          </p:cNvCxnSpPr>
          <p:nvPr/>
        </p:nvCxnSpPr>
        <p:spPr>
          <a:xfrm>
            <a:off x="5722635" y="3029984"/>
            <a:ext cx="1003282" cy="79052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51" idx="1"/>
          </p:cNvCxnSpPr>
          <p:nvPr/>
        </p:nvCxnSpPr>
        <p:spPr>
          <a:xfrm>
            <a:off x="5679996" y="4960276"/>
            <a:ext cx="1054952" cy="6160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0" idx="3"/>
          </p:cNvCxnSpPr>
          <p:nvPr/>
        </p:nvCxnSpPr>
        <p:spPr>
          <a:xfrm flipV="1">
            <a:off x="5702592" y="4765106"/>
            <a:ext cx="993389" cy="76082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48" idx="3"/>
          </p:cNvCxnSpPr>
          <p:nvPr/>
        </p:nvCxnSpPr>
        <p:spPr>
          <a:xfrm flipV="1">
            <a:off x="5739755" y="3341260"/>
            <a:ext cx="995193" cy="370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endCxn id="47" idx="1"/>
          </p:cNvCxnSpPr>
          <p:nvPr/>
        </p:nvCxnSpPr>
        <p:spPr>
          <a:xfrm>
            <a:off x="5696319" y="2328556"/>
            <a:ext cx="1032964" cy="23831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46" idx="2"/>
          </p:cNvCxnSpPr>
          <p:nvPr/>
        </p:nvCxnSpPr>
        <p:spPr>
          <a:xfrm flipV="1">
            <a:off x="5700788" y="2113023"/>
            <a:ext cx="940419" cy="1724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03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 strategy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80" y="1853754"/>
            <a:ext cx="9603274" cy="4126916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75314" y="376731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64428" y="4718955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1" name="Straight Connector 10"/>
          <p:cNvCxnSpPr>
            <a:stCxn id="7" idx="4"/>
            <a:endCxn id="3" idx="0"/>
          </p:cNvCxnSpPr>
          <p:nvPr/>
        </p:nvCxnSpPr>
        <p:spPr>
          <a:xfrm flipH="1">
            <a:off x="4044042" y="2527809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4"/>
          </p:cNvCxnSpPr>
          <p:nvPr/>
        </p:nvCxnSpPr>
        <p:spPr>
          <a:xfrm flipH="1">
            <a:off x="5513615" y="4476700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521949" y="5157072"/>
            <a:ext cx="8334" cy="270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537938" y="3799973"/>
            <a:ext cx="16668" cy="26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54606" y="3207697"/>
            <a:ext cx="8334" cy="217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675700" y="3779187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6645764" y="4524260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6684731" y="5534953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en-US" dirty="0"/>
          </a:p>
        </p:txBody>
      </p:sp>
      <p:cxnSp>
        <p:nvCxnSpPr>
          <p:cNvPr id="53" name="Straight Connector 52"/>
          <p:cNvCxnSpPr>
            <a:endCxn id="49" idx="1"/>
          </p:cNvCxnSpPr>
          <p:nvPr/>
        </p:nvCxnSpPr>
        <p:spPr>
          <a:xfrm>
            <a:off x="5722635" y="3029984"/>
            <a:ext cx="1003282" cy="79052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858000" y="2254107"/>
            <a:ext cx="12357" cy="271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2594919" y="1971938"/>
            <a:ext cx="4432712" cy="3854892"/>
            <a:chOff x="2594919" y="1971938"/>
            <a:chExt cx="4432712" cy="3854892"/>
          </a:xfrm>
        </p:grpSpPr>
        <p:sp>
          <p:nvSpPr>
            <p:cNvPr id="6" name="Oval 5"/>
            <p:cNvSpPr/>
            <p:nvPr/>
          </p:nvSpPr>
          <p:spPr>
            <a:xfrm>
              <a:off x="2594919" y="3484606"/>
              <a:ext cx="457200" cy="42013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s</a:t>
              </a:r>
              <a:endParaRPr lang="en-US" sz="2800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3864427" y="2934637"/>
              <a:ext cx="359229" cy="3918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3875314" y="2135923"/>
              <a:ext cx="359229" cy="3918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 flipV="1">
              <a:off x="2906486" y="2367646"/>
              <a:ext cx="957941" cy="111696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3058886" y="3201850"/>
              <a:ext cx="798774" cy="43515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6" idx="5"/>
            </p:cNvCxnSpPr>
            <p:nvPr/>
          </p:nvCxnSpPr>
          <p:spPr>
            <a:xfrm>
              <a:off x="2985164" y="3843209"/>
              <a:ext cx="872496" cy="8218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endCxn id="9" idx="2"/>
            </p:cNvCxnSpPr>
            <p:nvPr/>
          </p:nvCxnSpPr>
          <p:spPr>
            <a:xfrm>
              <a:off x="2823519" y="3934043"/>
              <a:ext cx="1040909" cy="98085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4033154" y="3348798"/>
              <a:ext cx="10887" cy="4068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8" idx="4"/>
            </p:cNvCxnSpPr>
            <p:nvPr/>
          </p:nvCxnSpPr>
          <p:spPr>
            <a:xfrm flipH="1">
              <a:off x="4038600" y="4159201"/>
              <a:ext cx="16329" cy="50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>
              <a:off x="5334001" y="2091590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5350669" y="2802260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</a:t>
              </a:r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5383326" y="3407353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f</a:t>
              </a:r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5350669" y="4077111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h</a:t>
              </a:r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5334001" y="4757483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j</a:t>
              </a:r>
              <a:endParaRPr lang="en-US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5334001" y="5427241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k</a:t>
              </a:r>
              <a:endParaRPr lang="en-US" dirty="0"/>
            </a:p>
          </p:txBody>
        </p:sp>
        <p:cxnSp>
          <p:nvCxnSpPr>
            <p:cNvPr id="27" name="Straight Connector 26"/>
            <p:cNvCxnSpPr>
              <a:stCxn id="7" idx="6"/>
              <a:endCxn id="18" idx="2"/>
            </p:cNvCxnSpPr>
            <p:nvPr/>
          </p:nvCxnSpPr>
          <p:spPr>
            <a:xfrm flipV="1">
              <a:off x="4234543" y="2291385"/>
              <a:ext cx="1099458" cy="4048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endCxn id="24" idx="1"/>
            </p:cNvCxnSpPr>
            <p:nvPr/>
          </p:nvCxnSpPr>
          <p:spPr>
            <a:xfrm>
              <a:off x="4153070" y="4124600"/>
              <a:ext cx="1233539" cy="69140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endCxn id="22" idx="2"/>
            </p:cNvCxnSpPr>
            <p:nvPr/>
          </p:nvCxnSpPr>
          <p:spPr>
            <a:xfrm flipV="1">
              <a:off x="4245429" y="3607148"/>
              <a:ext cx="1137897" cy="32198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234543" y="4919147"/>
              <a:ext cx="1088571" cy="249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23" idx="2"/>
            </p:cNvCxnSpPr>
            <p:nvPr/>
          </p:nvCxnSpPr>
          <p:spPr>
            <a:xfrm>
              <a:off x="4251211" y="4017797"/>
              <a:ext cx="1099458" cy="25910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9" idx="5"/>
              <a:endCxn id="25" idx="2"/>
            </p:cNvCxnSpPr>
            <p:nvPr/>
          </p:nvCxnSpPr>
          <p:spPr>
            <a:xfrm>
              <a:off x="4171049" y="5053451"/>
              <a:ext cx="1162952" cy="57358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4202796" y="3017493"/>
              <a:ext cx="1099458" cy="762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endCxn id="21" idx="1"/>
            </p:cNvCxnSpPr>
            <p:nvPr/>
          </p:nvCxnSpPr>
          <p:spPr>
            <a:xfrm>
              <a:off x="4202796" y="2439865"/>
              <a:ext cx="1200481" cy="42091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18" idx="4"/>
              <a:endCxn id="21" idx="0"/>
            </p:cNvCxnSpPr>
            <p:nvPr/>
          </p:nvCxnSpPr>
          <p:spPr>
            <a:xfrm>
              <a:off x="5513615" y="2491179"/>
              <a:ext cx="16668" cy="311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6641207" y="1971938"/>
              <a:ext cx="342900" cy="28216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</a:t>
              </a:r>
              <a:endParaRPr lang="en-US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6679066" y="2525549"/>
              <a:ext cx="342900" cy="28216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6684731" y="3100414"/>
              <a:ext cx="342900" cy="28216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</a:t>
              </a:r>
            </a:p>
          </p:txBody>
        </p:sp>
        <p:cxnSp>
          <p:nvCxnSpPr>
            <p:cNvPr id="19" name="Straight Connector 18"/>
            <p:cNvCxnSpPr>
              <a:endCxn id="48" idx="2"/>
            </p:cNvCxnSpPr>
            <p:nvPr/>
          </p:nvCxnSpPr>
          <p:spPr>
            <a:xfrm>
              <a:off x="5709897" y="2331866"/>
              <a:ext cx="974834" cy="90963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endCxn id="50" idx="2"/>
            </p:cNvCxnSpPr>
            <p:nvPr/>
          </p:nvCxnSpPr>
          <p:spPr>
            <a:xfrm>
              <a:off x="5700788" y="4342771"/>
              <a:ext cx="944976" cy="32257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endCxn id="51" idx="1"/>
            </p:cNvCxnSpPr>
            <p:nvPr/>
          </p:nvCxnSpPr>
          <p:spPr>
            <a:xfrm>
              <a:off x="5679996" y="4960276"/>
              <a:ext cx="1054952" cy="616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endCxn id="50" idx="3"/>
            </p:cNvCxnSpPr>
            <p:nvPr/>
          </p:nvCxnSpPr>
          <p:spPr>
            <a:xfrm flipV="1">
              <a:off x="5702592" y="4765106"/>
              <a:ext cx="993389" cy="76082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48" idx="3"/>
            </p:cNvCxnSpPr>
            <p:nvPr/>
          </p:nvCxnSpPr>
          <p:spPr>
            <a:xfrm flipV="1">
              <a:off x="5739755" y="3341260"/>
              <a:ext cx="995193" cy="370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7" idx="1"/>
            </p:cNvCxnSpPr>
            <p:nvPr/>
          </p:nvCxnSpPr>
          <p:spPr>
            <a:xfrm>
              <a:off x="5696319" y="2328556"/>
              <a:ext cx="1032964" cy="23831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endCxn id="46" idx="2"/>
            </p:cNvCxnSpPr>
            <p:nvPr/>
          </p:nvCxnSpPr>
          <p:spPr>
            <a:xfrm flipV="1">
              <a:off x="5700788" y="2113023"/>
              <a:ext cx="940419" cy="17248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6870289" y="2812942"/>
              <a:ext cx="12357" cy="2714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endCxn id="49" idx="0"/>
            </p:cNvCxnSpPr>
            <p:nvPr/>
          </p:nvCxnSpPr>
          <p:spPr>
            <a:xfrm flipH="1">
              <a:off x="6847150" y="3407353"/>
              <a:ext cx="6842" cy="3718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endCxn id="50" idx="0"/>
            </p:cNvCxnSpPr>
            <p:nvPr/>
          </p:nvCxnSpPr>
          <p:spPr>
            <a:xfrm flipH="1">
              <a:off x="6817214" y="4066292"/>
              <a:ext cx="36778" cy="4579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endCxn id="51" idx="0"/>
            </p:cNvCxnSpPr>
            <p:nvPr/>
          </p:nvCxnSpPr>
          <p:spPr>
            <a:xfrm>
              <a:off x="6834793" y="4815449"/>
              <a:ext cx="21388" cy="7195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351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413771" y="1864194"/>
            <a:ext cx="4645152" cy="4202974"/>
          </a:xfrm>
        </p:spPr>
        <p:txBody>
          <a:bodyPr>
            <a:normAutofit/>
          </a:bodyPr>
          <a:lstStyle/>
          <a:p>
            <a:r>
              <a:rPr lang="en-US" sz="1400" dirty="0" smtClean="0"/>
              <a:t>Breadth-First Search is a traversal, it constructs a visiting order of different vertices in the original graph. Following the visiting order, it visits all vertices in the graph one by one</a:t>
            </a:r>
          </a:p>
          <a:p>
            <a:r>
              <a:rPr lang="en-US" sz="1400" dirty="0" smtClean="0"/>
              <a:t>One product of the Search strategy is the visited edges, in green color. The other edges in the graph is ignored in the traversal.</a:t>
            </a:r>
          </a:p>
          <a:p>
            <a:r>
              <a:rPr lang="en-US" sz="1400" dirty="0" smtClean="0"/>
              <a:t>The vertices is divided into different equivalent classes; level 1; one move from vertex S. Level 2; two moves from S. Level 3; three movers from S.</a:t>
            </a:r>
          </a:p>
          <a:p>
            <a:r>
              <a:rPr lang="en-US" sz="1400" dirty="0" smtClean="0"/>
              <a:t>The edges among equivalent classes are ignored in the traversal.  Edges between the neighbor level classes might be ignored depending on the visit status.</a:t>
            </a:r>
          </a:p>
          <a:p>
            <a:r>
              <a:rPr lang="en-US" sz="1400" dirty="0" smtClean="0"/>
              <a:t>It forms a tree connecting all vertices in the graph</a:t>
            </a:r>
            <a:endParaRPr lang="en-US" sz="1400" dirty="0"/>
          </a:p>
        </p:txBody>
      </p:sp>
      <p:grpSp>
        <p:nvGrpSpPr>
          <p:cNvPr id="7" name="Group 6"/>
          <p:cNvGrpSpPr/>
          <p:nvPr/>
        </p:nvGrpSpPr>
        <p:grpSpPr>
          <a:xfrm>
            <a:off x="1668161" y="2017343"/>
            <a:ext cx="3917093" cy="3441520"/>
            <a:chOff x="2594919" y="1971938"/>
            <a:chExt cx="4432712" cy="3854892"/>
          </a:xfrm>
        </p:grpSpPr>
        <p:sp>
          <p:nvSpPr>
            <p:cNvPr id="8" name="Oval 7"/>
            <p:cNvSpPr/>
            <p:nvPr/>
          </p:nvSpPr>
          <p:spPr>
            <a:xfrm>
              <a:off x="2594919" y="3484606"/>
              <a:ext cx="457200" cy="42013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s</a:t>
              </a:r>
              <a:endParaRPr lang="en-US" sz="2800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864427" y="2934637"/>
              <a:ext cx="359229" cy="3918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875314" y="2135923"/>
              <a:ext cx="359229" cy="3918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</a:t>
              </a:r>
              <a:endParaRPr lang="en-US" dirty="0"/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2906486" y="2367646"/>
              <a:ext cx="957941" cy="111696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3058886" y="3201850"/>
              <a:ext cx="798774" cy="43515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11" idx="5"/>
            </p:cNvCxnSpPr>
            <p:nvPr/>
          </p:nvCxnSpPr>
          <p:spPr>
            <a:xfrm>
              <a:off x="2985164" y="3843209"/>
              <a:ext cx="872496" cy="8218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endCxn id="14" idx="2"/>
            </p:cNvCxnSpPr>
            <p:nvPr/>
          </p:nvCxnSpPr>
          <p:spPr>
            <a:xfrm>
              <a:off x="2823519" y="3934043"/>
              <a:ext cx="1040909" cy="98085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4033154" y="3348798"/>
              <a:ext cx="10887" cy="4068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4010580" y="4308407"/>
              <a:ext cx="16329" cy="50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334001" y="2091590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5350669" y="2802260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</a:t>
              </a:r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5383326" y="3407353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f</a:t>
              </a:r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5350669" y="4077111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h</a:t>
              </a:r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5334001" y="4757483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j</a:t>
              </a:r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5334001" y="5427241"/>
              <a:ext cx="359228" cy="3995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k</a:t>
              </a:r>
              <a:endParaRPr lang="en-US" dirty="0"/>
            </a:p>
          </p:txBody>
        </p:sp>
        <p:cxnSp>
          <p:nvCxnSpPr>
            <p:cNvPr id="23" name="Straight Connector 22"/>
            <p:cNvCxnSpPr>
              <a:stCxn id="12" idx="6"/>
              <a:endCxn id="23" idx="2"/>
            </p:cNvCxnSpPr>
            <p:nvPr/>
          </p:nvCxnSpPr>
          <p:spPr>
            <a:xfrm flipV="1">
              <a:off x="4234543" y="2291385"/>
              <a:ext cx="1099458" cy="4048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29" idx="1"/>
            </p:cNvCxnSpPr>
            <p:nvPr/>
          </p:nvCxnSpPr>
          <p:spPr>
            <a:xfrm>
              <a:off x="4153070" y="4124600"/>
              <a:ext cx="1233539" cy="69140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endCxn id="27" idx="2"/>
            </p:cNvCxnSpPr>
            <p:nvPr/>
          </p:nvCxnSpPr>
          <p:spPr>
            <a:xfrm flipV="1">
              <a:off x="4245429" y="3607148"/>
              <a:ext cx="1137897" cy="32198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234543" y="4919147"/>
              <a:ext cx="1088571" cy="249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endCxn id="28" idx="2"/>
            </p:cNvCxnSpPr>
            <p:nvPr/>
          </p:nvCxnSpPr>
          <p:spPr>
            <a:xfrm>
              <a:off x="4251211" y="4017797"/>
              <a:ext cx="1099458" cy="25910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4" idx="5"/>
              <a:endCxn id="30" idx="2"/>
            </p:cNvCxnSpPr>
            <p:nvPr/>
          </p:nvCxnSpPr>
          <p:spPr>
            <a:xfrm>
              <a:off x="4171049" y="5053451"/>
              <a:ext cx="1162952" cy="57358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4202796" y="3017493"/>
              <a:ext cx="1099458" cy="762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endCxn id="26" idx="1"/>
            </p:cNvCxnSpPr>
            <p:nvPr/>
          </p:nvCxnSpPr>
          <p:spPr>
            <a:xfrm>
              <a:off x="4202796" y="2439865"/>
              <a:ext cx="1200481" cy="42091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23" idx="4"/>
              <a:endCxn id="26" idx="0"/>
            </p:cNvCxnSpPr>
            <p:nvPr/>
          </p:nvCxnSpPr>
          <p:spPr>
            <a:xfrm>
              <a:off x="5513615" y="2491179"/>
              <a:ext cx="16668" cy="311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6641207" y="1971938"/>
              <a:ext cx="342900" cy="28216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</a:t>
              </a:r>
              <a:endParaRPr lang="en-US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6679066" y="2525549"/>
              <a:ext cx="342900" cy="28216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684731" y="3100414"/>
              <a:ext cx="342900" cy="28216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5709897" y="2331866"/>
              <a:ext cx="974834" cy="90963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700788" y="4342771"/>
              <a:ext cx="944976" cy="32257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679996" y="4960276"/>
              <a:ext cx="1054952" cy="616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5702592" y="4765106"/>
              <a:ext cx="993389" cy="76082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V="1">
              <a:off x="5739755" y="3341260"/>
              <a:ext cx="995193" cy="370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696319" y="2328556"/>
              <a:ext cx="1032964" cy="23831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5700788" y="2113023"/>
              <a:ext cx="940419" cy="17248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6870289" y="2812942"/>
              <a:ext cx="12357" cy="2714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6847150" y="3407353"/>
              <a:ext cx="6842" cy="3718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6875867" y="4163103"/>
              <a:ext cx="36778" cy="4579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834793" y="4815449"/>
              <a:ext cx="21388" cy="7195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Oval 45"/>
          <p:cNvSpPr/>
          <p:nvPr/>
        </p:nvSpPr>
        <p:spPr>
          <a:xfrm>
            <a:off x="2748880" y="363172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737994" y="4583363"/>
            <a:ext cx="359229" cy="39188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48" name="Oval 47"/>
          <p:cNvSpPr/>
          <p:nvPr/>
        </p:nvSpPr>
        <p:spPr>
          <a:xfrm>
            <a:off x="5302062" y="3657990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5272126" y="4403063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5288727" y="5156643"/>
            <a:ext cx="342900" cy="28216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en-US" dirty="0"/>
          </a:p>
        </p:txBody>
      </p:sp>
      <p:cxnSp>
        <p:nvCxnSpPr>
          <p:cNvPr id="51" name="Straight Connector 50"/>
          <p:cNvCxnSpPr/>
          <p:nvPr/>
        </p:nvCxnSpPr>
        <p:spPr>
          <a:xfrm>
            <a:off x="4447185" y="3024809"/>
            <a:ext cx="905094" cy="67450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2919150" y="2456268"/>
            <a:ext cx="10887" cy="40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86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algorithm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used the natural language to describe the Breadth-First Search Strategy</a:t>
            </a:r>
          </a:p>
          <a:p>
            <a:r>
              <a:rPr lang="en-US" dirty="0" smtClean="0"/>
              <a:t>How can we describe them in a rigorous algorithm that can be implemented in computer?</a:t>
            </a:r>
          </a:p>
          <a:p>
            <a:r>
              <a:rPr lang="en-US" dirty="0" smtClean="0"/>
              <a:t>Next, we will use a shortest path searching example to illustrate the rigorous algorithm and then we will work together to write down the implementation code using </a:t>
            </a:r>
            <a:r>
              <a:rPr lang="en-US" dirty="0" err="1" smtClean="0"/>
              <a:t>Psedeo</a:t>
            </a:r>
            <a:r>
              <a:rPr lang="en-US" dirty="0" smtClean="0"/>
              <a:t> code.</a:t>
            </a:r>
          </a:p>
          <a:p>
            <a:r>
              <a:rPr lang="en-US" smtClean="0"/>
              <a:t>So far, any questions not clear?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5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784</TotalTime>
  <Words>602</Words>
  <Application>Microsoft Macintosh PowerPoint</Application>
  <PresentationFormat>Widescreen</PresentationFormat>
  <Paragraphs>250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Gill Sans MT</vt:lpstr>
      <vt:lpstr>Arial</vt:lpstr>
      <vt:lpstr>Gallery</vt:lpstr>
      <vt:lpstr>Breadth-First Search</vt:lpstr>
      <vt:lpstr>Learning Objectives </vt:lpstr>
      <vt:lpstr>Requirements</vt:lpstr>
      <vt:lpstr>Graph Searching Context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Breadth-first search algorithm strategy </vt:lpstr>
      <vt:lpstr>Recap</vt:lpstr>
      <vt:lpstr>Breadth-first search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Breadth-First Search</dc:title>
  <dc:creator>Wang, Min</dc:creator>
  <cp:lastModifiedBy>Wang, Min</cp:lastModifiedBy>
  <cp:revision>59</cp:revision>
  <dcterms:created xsi:type="dcterms:W3CDTF">2020-08-19T20:23:22Z</dcterms:created>
  <dcterms:modified xsi:type="dcterms:W3CDTF">2020-08-20T09:28:15Z</dcterms:modified>
</cp:coreProperties>
</file>